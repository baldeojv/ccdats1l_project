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Questrial" charset="1" panose="02000000000000000000"/>
      <p:regular r:id="rId35"/>
    </p:embeddedFont>
    <p:embeddedFont>
      <p:font typeface="Manjari" charset="1" panose="02000503000000000000"/>
      <p:regular r:id="rId36"/>
    </p:embeddedFont>
    <p:embeddedFont>
      <p:font typeface="Glacial Indifference" charset="1" panose="00000000000000000000"/>
      <p:regular r:id="rId37"/>
    </p:embeddedFont>
    <p:embeddedFont>
      <p:font typeface="Manjari Bold" charset="1" panose="02000503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1906623"/>
            <a:ext cx="16230600" cy="4173853"/>
          </a:xfrm>
          <a:prstGeom prst="rect">
            <a:avLst/>
          </a:prstGeom>
        </p:spPr>
        <p:txBody>
          <a:bodyPr anchor="t" rtlCol="false" tIns="0" lIns="0" bIns="0" rIns="0">
            <a:spAutoFit/>
          </a:bodyPr>
          <a:lstStyle/>
          <a:p>
            <a:pPr algn="ctr">
              <a:lnSpc>
                <a:spcPts val="6509"/>
              </a:lnSpc>
            </a:pPr>
            <a:r>
              <a:rPr lang="en-US" sz="6999">
                <a:solidFill>
                  <a:srgbClr val="272727"/>
                </a:solidFill>
                <a:latin typeface="Questrial"/>
                <a:ea typeface="Questrial"/>
                <a:cs typeface="Questrial"/>
                <a:sym typeface="Questrial"/>
              </a:rPr>
              <a:t>DATA-DRIVEN ANALYSIS OF PROFITABILITY AND FOOD WASTE IN A ROTATING MENU SYSTEM: EVIDENCE FROM A SMALL-SCALE FILIPINO EATERY</a:t>
            </a:r>
          </a:p>
        </p:txBody>
      </p:sp>
      <p:sp>
        <p:nvSpPr>
          <p:cNvPr name="TextBox 6" id="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7" id="7"/>
          <p:cNvGrpSpPr/>
          <p:nvPr/>
        </p:nvGrpSpPr>
        <p:grpSpPr>
          <a:xfrm rot="0">
            <a:off x="13360918" y="714843"/>
            <a:ext cx="1071507" cy="313857"/>
            <a:chOff x="0" y="0"/>
            <a:chExt cx="282208" cy="82662"/>
          </a:xfrm>
        </p:grpSpPr>
        <p:sp>
          <p:nvSpPr>
            <p:cNvPr name="Freeform 8" id="8"/>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9" id="9"/>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1" id="11"/>
          <p:cNvGrpSpPr/>
          <p:nvPr/>
        </p:nvGrpSpPr>
        <p:grpSpPr>
          <a:xfrm rot="0">
            <a:off x="14645036" y="714843"/>
            <a:ext cx="1071507" cy="313857"/>
            <a:chOff x="0" y="0"/>
            <a:chExt cx="282208" cy="82662"/>
          </a:xfrm>
        </p:grpSpPr>
        <p:sp>
          <p:nvSpPr>
            <p:cNvPr name="Freeform 12" id="12"/>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5" id="15"/>
          <p:cNvGrpSpPr/>
          <p:nvPr/>
        </p:nvGrpSpPr>
        <p:grpSpPr>
          <a:xfrm rot="0">
            <a:off x="15929155" y="714843"/>
            <a:ext cx="1330145" cy="313857"/>
            <a:chOff x="0" y="0"/>
            <a:chExt cx="350326" cy="82662"/>
          </a:xfrm>
        </p:grpSpPr>
        <p:sp>
          <p:nvSpPr>
            <p:cNvPr name="Freeform 16" id="16"/>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7" id="17"/>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grpSp>
        <p:nvGrpSpPr>
          <p:cNvPr name="Group 19" id="19"/>
          <p:cNvGrpSpPr/>
          <p:nvPr/>
        </p:nvGrpSpPr>
        <p:grpSpPr>
          <a:xfrm rot="0">
            <a:off x="4892859" y="7067966"/>
            <a:ext cx="8502283" cy="1023938"/>
            <a:chOff x="0" y="0"/>
            <a:chExt cx="2239284" cy="269679"/>
          </a:xfrm>
        </p:grpSpPr>
        <p:sp>
          <p:nvSpPr>
            <p:cNvPr name="Freeform 20" id="20"/>
            <p:cNvSpPr/>
            <p:nvPr/>
          </p:nvSpPr>
          <p:spPr>
            <a:xfrm flipH="false" flipV="false" rot="0">
              <a:off x="0" y="0"/>
              <a:ext cx="2239284" cy="269679"/>
            </a:xfrm>
            <a:custGeom>
              <a:avLst/>
              <a:gdLst/>
              <a:ahLst/>
              <a:cxnLst/>
              <a:rect r="r" b="b" t="t" l="l"/>
              <a:pathLst>
                <a:path h="269679" w="2239284">
                  <a:moveTo>
                    <a:pt x="46439" y="0"/>
                  </a:moveTo>
                  <a:lnTo>
                    <a:pt x="2192845" y="0"/>
                  </a:lnTo>
                  <a:cubicBezTo>
                    <a:pt x="2205162" y="0"/>
                    <a:pt x="2216974" y="4893"/>
                    <a:pt x="2225683" y="13602"/>
                  </a:cubicBezTo>
                  <a:cubicBezTo>
                    <a:pt x="2234392" y="22311"/>
                    <a:pt x="2239284" y="34123"/>
                    <a:pt x="2239284" y="46439"/>
                  </a:cubicBezTo>
                  <a:lnTo>
                    <a:pt x="2239284" y="223240"/>
                  </a:lnTo>
                  <a:cubicBezTo>
                    <a:pt x="2239284" y="235557"/>
                    <a:pt x="2234392" y="247368"/>
                    <a:pt x="2225683" y="256077"/>
                  </a:cubicBezTo>
                  <a:cubicBezTo>
                    <a:pt x="2216974" y="264787"/>
                    <a:pt x="2205162" y="269679"/>
                    <a:pt x="2192845" y="269679"/>
                  </a:cubicBezTo>
                  <a:lnTo>
                    <a:pt x="46439" y="269679"/>
                  </a:lnTo>
                  <a:cubicBezTo>
                    <a:pt x="34123" y="269679"/>
                    <a:pt x="22311" y="264787"/>
                    <a:pt x="13602" y="256077"/>
                  </a:cubicBezTo>
                  <a:cubicBezTo>
                    <a:pt x="4893" y="247368"/>
                    <a:pt x="0" y="235557"/>
                    <a:pt x="0" y="223240"/>
                  </a:cubicBezTo>
                  <a:lnTo>
                    <a:pt x="0" y="46439"/>
                  </a:lnTo>
                  <a:cubicBezTo>
                    <a:pt x="0" y="34123"/>
                    <a:pt x="4893" y="22311"/>
                    <a:pt x="13602" y="13602"/>
                  </a:cubicBezTo>
                  <a:cubicBezTo>
                    <a:pt x="22311" y="4893"/>
                    <a:pt x="34123" y="0"/>
                    <a:pt x="46439" y="0"/>
                  </a:cubicBezTo>
                  <a:close/>
                </a:path>
              </a:pathLst>
            </a:custGeom>
            <a:ln w="9525" cap="rnd">
              <a:solidFill>
                <a:srgbClr val="272727"/>
              </a:solidFill>
              <a:prstDash val="solid"/>
              <a:round/>
            </a:ln>
          </p:spPr>
        </p:sp>
        <p:sp>
          <p:nvSpPr>
            <p:cNvPr name="TextBox 21" id="21"/>
            <p:cNvSpPr txBox="true"/>
            <p:nvPr/>
          </p:nvSpPr>
          <p:spPr>
            <a:xfrm>
              <a:off x="0" y="-57150"/>
              <a:ext cx="2239284" cy="326829"/>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5025793" y="7208492"/>
            <a:ext cx="8236414" cy="746599"/>
          </a:xfrm>
          <a:prstGeom prst="rect">
            <a:avLst/>
          </a:prstGeom>
        </p:spPr>
        <p:txBody>
          <a:bodyPr anchor="t" rtlCol="false" tIns="0" lIns="0" bIns="0" rIns="0">
            <a:spAutoFit/>
          </a:bodyPr>
          <a:lstStyle/>
          <a:p>
            <a:pPr algn="ctr">
              <a:lnSpc>
                <a:spcPts val="6165"/>
              </a:lnSpc>
            </a:pPr>
            <a:r>
              <a:rPr lang="en-US" sz="4404">
                <a:solidFill>
                  <a:srgbClr val="272727"/>
                </a:solidFill>
                <a:latin typeface="Manjari"/>
                <a:ea typeface="Manjari"/>
                <a:cs typeface="Manjari"/>
                <a:sym typeface="Manjari"/>
              </a:rPr>
              <a:t>John Vernon B. Baldeo</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4537729"/>
            <a:ext cx="16230600" cy="1516341"/>
          </a:xfrm>
          <a:prstGeom prst="rect">
            <a:avLst/>
          </a:prstGeom>
        </p:spPr>
        <p:txBody>
          <a:bodyPr anchor="t" rtlCol="false" tIns="0" lIns="0" bIns="0" rIns="0">
            <a:spAutoFit/>
          </a:bodyPr>
          <a:lstStyle/>
          <a:p>
            <a:pPr algn="ctr">
              <a:lnSpc>
                <a:spcPts val="11158"/>
              </a:lnSpc>
            </a:pPr>
            <a:r>
              <a:rPr lang="en-US" sz="11998">
                <a:solidFill>
                  <a:srgbClr val="272727"/>
                </a:solidFill>
                <a:latin typeface="Questrial"/>
                <a:ea typeface="Questrial"/>
                <a:cs typeface="Questrial"/>
                <a:sym typeface="Questrial"/>
              </a:rPr>
              <a:t>INTRODUCTION</a:t>
            </a:r>
          </a:p>
        </p:txBody>
      </p:sp>
      <p:sp>
        <p:nvSpPr>
          <p:cNvPr name="TextBox 6" id="6"/>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7" id="7"/>
          <p:cNvGrpSpPr/>
          <p:nvPr/>
        </p:nvGrpSpPr>
        <p:grpSpPr>
          <a:xfrm rot="0">
            <a:off x="13360918" y="1028700"/>
            <a:ext cx="1071507" cy="313857"/>
            <a:chOff x="0" y="0"/>
            <a:chExt cx="282208" cy="82662"/>
          </a:xfrm>
        </p:grpSpPr>
        <p:sp>
          <p:nvSpPr>
            <p:cNvPr name="Freeform 8" id="8"/>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9" id="9"/>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1" id="11"/>
          <p:cNvGrpSpPr/>
          <p:nvPr/>
        </p:nvGrpSpPr>
        <p:grpSpPr>
          <a:xfrm rot="0">
            <a:off x="14645036" y="1028700"/>
            <a:ext cx="1071507" cy="313857"/>
            <a:chOff x="0" y="0"/>
            <a:chExt cx="282208" cy="82662"/>
          </a:xfrm>
        </p:grpSpPr>
        <p:sp>
          <p:nvSpPr>
            <p:cNvPr name="Freeform 12" id="12"/>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5" id="15"/>
          <p:cNvGrpSpPr/>
          <p:nvPr/>
        </p:nvGrpSpPr>
        <p:grpSpPr>
          <a:xfrm rot="0">
            <a:off x="15929155" y="1028700"/>
            <a:ext cx="1330145" cy="313857"/>
            <a:chOff x="0" y="0"/>
            <a:chExt cx="350326" cy="82662"/>
          </a:xfrm>
        </p:grpSpPr>
        <p:sp>
          <p:nvSpPr>
            <p:cNvPr name="Freeform 16" id="16"/>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7" id="17"/>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sp>
        <p:nvSpPr>
          <p:cNvPr name="TextBox 2" id="2"/>
          <p:cNvSpPr txBox="true"/>
          <p:nvPr/>
        </p:nvSpPr>
        <p:spPr>
          <a:xfrm rot="0">
            <a:off x="2429756" y="1309784"/>
            <a:ext cx="6244757" cy="1369537"/>
          </a:xfrm>
          <a:prstGeom prst="rect">
            <a:avLst/>
          </a:prstGeom>
        </p:spPr>
        <p:txBody>
          <a:bodyPr anchor="t" rtlCol="false" tIns="0" lIns="0" bIns="0" rIns="0">
            <a:spAutoFit/>
          </a:bodyPr>
          <a:lstStyle/>
          <a:p>
            <a:pPr algn="l">
              <a:lnSpc>
                <a:spcPts val="11138"/>
              </a:lnSpc>
            </a:pPr>
            <a:r>
              <a:rPr lang="en-US" sz="7956">
                <a:solidFill>
                  <a:srgbClr val="272727"/>
                </a:solidFill>
                <a:latin typeface="Questrial"/>
                <a:ea typeface="Questrial"/>
                <a:cs typeface="Questrial"/>
                <a:sym typeface="Questrial"/>
              </a:rPr>
              <a:t>Abstract</a:t>
            </a:r>
          </a:p>
        </p:txBody>
      </p:sp>
      <p:sp>
        <p:nvSpPr>
          <p:cNvPr name="TextBox 3" id="3"/>
          <p:cNvSpPr txBox="true"/>
          <p:nvPr/>
        </p:nvSpPr>
        <p:spPr>
          <a:xfrm rot="0">
            <a:off x="2429756" y="2870716"/>
            <a:ext cx="14164471" cy="6797675"/>
          </a:xfrm>
          <a:prstGeom prst="rect">
            <a:avLst/>
          </a:prstGeom>
        </p:spPr>
        <p:txBody>
          <a:bodyPr anchor="t" rtlCol="false" tIns="0" lIns="0" bIns="0" rIns="0">
            <a:spAutoFit/>
          </a:bodyPr>
          <a:lstStyle/>
          <a:p>
            <a:pPr algn="just">
              <a:lnSpc>
                <a:spcPts val="4900"/>
              </a:lnSpc>
            </a:pPr>
            <a:r>
              <a:rPr lang="en-US" sz="3500">
                <a:solidFill>
                  <a:srgbClr val="272727"/>
                </a:solidFill>
                <a:latin typeface="Glacial Indifference"/>
                <a:ea typeface="Glacial Indifference"/>
                <a:cs typeface="Glacial Indifference"/>
                <a:sym typeface="Glacial Indifference"/>
              </a:rPr>
              <a:t>This study evaluates the profitability and waste patterns of a repeating menu system in a Filipino eatery using 30 days of operational data. Descriptive analytics and statistical tests revealed significant profit differences across dish categories, with fish and vegetable dishes generating the highest returns while chicken dishes showed the greatest waste and lowest profitability. A moderate negative correlation between waste rate and profit confirms that overproduction reduces earnings. The findings demonstrate that simple data-driven analysis can improve menu planning, reduce waste, and enhance operational efficiency in small food service businesses.</a:t>
            </a:r>
          </a:p>
          <a:p>
            <a:pPr algn="just">
              <a:lnSpc>
                <a:spcPts val="4900"/>
              </a:lnSpc>
            </a:pPr>
          </a:p>
        </p:txBody>
      </p:sp>
      <p:grpSp>
        <p:nvGrpSpPr>
          <p:cNvPr name="Group 4" id="4"/>
          <p:cNvGrpSpPr/>
          <p:nvPr/>
        </p:nvGrpSpPr>
        <p:grpSpPr>
          <a:xfrm rot="0">
            <a:off x="1028700" y="714843"/>
            <a:ext cx="1836362" cy="313857"/>
            <a:chOff x="0" y="0"/>
            <a:chExt cx="483651" cy="82662"/>
          </a:xfrm>
        </p:grpSpPr>
        <p:sp>
          <p:nvSpPr>
            <p:cNvPr name="Freeform 5" id="5"/>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6" id="6"/>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8" id="8"/>
          <p:cNvGrpSpPr/>
          <p:nvPr/>
        </p:nvGrpSpPr>
        <p:grpSpPr>
          <a:xfrm rot="0">
            <a:off x="13360918"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2" id="12"/>
          <p:cNvGrpSpPr/>
          <p:nvPr/>
        </p:nvGrpSpPr>
        <p:grpSpPr>
          <a:xfrm rot="0">
            <a:off x="14645036" y="714843"/>
            <a:ext cx="1071507" cy="313857"/>
            <a:chOff x="0" y="0"/>
            <a:chExt cx="282208" cy="82662"/>
          </a:xfrm>
        </p:grpSpPr>
        <p:sp>
          <p:nvSpPr>
            <p:cNvPr name="Freeform 13" id="13"/>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4" id="14"/>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6" id="16"/>
          <p:cNvGrpSpPr/>
          <p:nvPr/>
        </p:nvGrpSpPr>
        <p:grpSpPr>
          <a:xfrm rot="0">
            <a:off x="15929155" y="714843"/>
            <a:ext cx="1330145" cy="313857"/>
            <a:chOff x="0" y="0"/>
            <a:chExt cx="350326" cy="82662"/>
          </a:xfrm>
        </p:grpSpPr>
        <p:sp>
          <p:nvSpPr>
            <p:cNvPr name="Freeform 17" id="17"/>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8" id="18"/>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sp>
        <p:nvSpPr>
          <p:cNvPr name="TextBox 2" id="2"/>
          <p:cNvSpPr txBox="true"/>
          <p:nvPr/>
        </p:nvSpPr>
        <p:spPr>
          <a:xfrm rot="0">
            <a:off x="2429756" y="1309784"/>
            <a:ext cx="6244757" cy="1369537"/>
          </a:xfrm>
          <a:prstGeom prst="rect">
            <a:avLst/>
          </a:prstGeom>
        </p:spPr>
        <p:txBody>
          <a:bodyPr anchor="t" rtlCol="false" tIns="0" lIns="0" bIns="0" rIns="0">
            <a:spAutoFit/>
          </a:bodyPr>
          <a:lstStyle/>
          <a:p>
            <a:pPr algn="l">
              <a:lnSpc>
                <a:spcPts val="11138"/>
              </a:lnSpc>
            </a:pPr>
            <a:r>
              <a:rPr lang="en-US" sz="7956">
                <a:solidFill>
                  <a:srgbClr val="272727"/>
                </a:solidFill>
                <a:latin typeface="Questrial"/>
                <a:ea typeface="Questrial"/>
                <a:cs typeface="Questrial"/>
                <a:sym typeface="Questrial"/>
              </a:rPr>
              <a:t>Objectives</a:t>
            </a:r>
          </a:p>
        </p:txBody>
      </p:sp>
      <p:sp>
        <p:nvSpPr>
          <p:cNvPr name="TextBox 3" id="3"/>
          <p:cNvSpPr txBox="true"/>
          <p:nvPr/>
        </p:nvSpPr>
        <p:spPr>
          <a:xfrm rot="0">
            <a:off x="1721716" y="2803186"/>
            <a:ext cx="15537584" cy="6045200"/>
          </a:xfrm>
          <a:prstGeom prst="rect">
            <a:avLst/>
          </a:prstGeom>
        </p:spPr>
        <p:txBody>
          <a:bodyPr anchor="t" rtlCol="false" tIns="0" lIns="0" bIns="0" rIns="0">
            <a:spAutoFit/>
          </a:bodyPr>
          <a:lstStyle/>
          <a:p>
            <a:pPr algn="just" marL="755651" indent="-377825" lvl="1">
              <a:lnSpc>
                <a:spcPts val="4900"/>
              </a:lnSpc>
              <a:buFont typeface="Arial"/>
              <a:buChar char="•"/>
            </a:pPr>
            <a:r>
              <a:rPr lang="en-US" sz="3500">
                <a:solidFill>
                  <a:srgbClr val="272727"/>
                </a:solidFill>
                <a:latin typeface="Glacial Indifference"/>
                <a:ea typeface="Glacial Indifference"/>
                <a:cs typeface="Glacial Indifference"/>
                <a:sym typeface="Glacial Indifference"/>
              </a:rPr>
              <a:t>Evaluate the operational performance and profitability of a repeating menu system in a small eatery.</a:t>
            </a:r>
          </a:p>
          <a:p>
            <a:pPr algn="just" marL="734061" indent="-367031" lvl="1">
              <a:lnSpc>
                <a:spcPts val="4760"/>
              </a:lnSpc>
              <a:buFont typeface="Arial"/>
              <a:buChar char="•"/>
            </a:pPr>
            <a:r>
              <a:rPr lang="en-US" sz="3400">
                <a:solidFill>
                  <a:srgbClr val="272727"/>
                </a:solidFill>
                <a:latin typeface="Glacial Indifference"/>
                <a:ea typeface="Glacial Indifference"/>
                <a:cs typeface="Glacial Indifference"/>
                <a:sym typeface="Glacial Indifference"/>
              </a:rPr>
              <a:t>Analyze profitability across dish categories and individual menu items.</a:t>
            </a:r>
          </a:p>
          <a:p>
            <a:pPr algn="just" marL="734061" indent="-367031" lvl="1">
              <a:lnSpc>
                <a:spcPts val="4760"/>
              </a:lnSpc>
              <a:buFont typeface="Arial"/>
              <a:buChar char="•"/>
            </a:pPr>
            <a:r>
              <a:rPr lang="en-US" sz="3400">
                <a:solidFill>
                  <a:srgbClr val="272727"/>
                </a:solidFill>
                <a:latin typeface="Glacial Indifference"/>
                <a:ea typeface="Glacial Indifference"/>
                <a:cs typeface="Glacial Indifference"/>
                <a:sym typeface="Glacial Indifference"/>
              </a:rPr>
              <a:t>Examine food waste patterns and their impact on financial outcomes.</a:t>
            </a:r>
          </a:p>
          <a:p>
            <a:pPr algn="just" marL="734061" indent="-367031" lvl="1">
              <a:lnSpc>
                <a:spcPts val="4760"/>
              </a:lnSpc>
              <a:buFont typeface="Arial"/>
              <a:buChar char="•"/>
            </a:pPr>
            <a:r>
              <a:rPr lang="en-US" sz="3400">
                <a:solidFill>
                  <a:srgbClr val="272727"/>
                </a:solidFill>
                <a:latin typeface="Glacial Indifference"/>
                <a:ea typeface="Glacial Indifference"/>
                <a:cs typeface="Glacial Indifference"/>
                <a:sym typeface="Glacial Indifference"/>
              </a:rPr>
              <a:t>Determine whether mean profit differs significantly among dish categories.</a:t>
            </a:r>
          </a:p>
          <a:p>
            <a:pPr algn="just" marL="734061" indent="-367031" lvl="1">
              <a:lnSpc>
                <a:spcPts val="4760"/>
              </a:lnSpc>
              <a:buFont typeface="Arial"/>
              <a:buChar char="•"/>
            </a:pPr>
            <a:r>
              <a:rPr lang="en-US" sz="3400">
                <a:solidFill>
                  <a:srgbClr val="272727"/>
                </a:solidFill>
                <a:latin typeface="Glacial Indifference"/>
                <a:ea typeface="Glacial Indifference"/>
                <a:cs typeface="Glacial Indifference"/>
                <a:sym typeface="Glacial Indifference"/>
              </a:rPr>
              <a:t>Asses</a:t>
            </a:r>
            <a:r>
              <a:rPr lang="en-US" sz="3400">
                <a:solidFill>
                  <a:srgbClr val="272727"/>
                </a:solidFill>
                <a:latin typeface="Glacial Indifference"/>
                <a:ea typeface="Glacial Indifference"/>
                <a:cs typeface="Glacial Indifference"/>
                <a:sym typeface="Glacial Indifference"/>
              </a:rPr>
              <a:t>s the relationship between waste rate and profit.</a:t>
            </a:r>
          </a:p>
          <a:p>
            <a:pPr algn="just" marL="734061" indent="-367031" lvl="1">
              <a:lnSpc>
                <a:spcPts val="4760"/>
              </a:lnSpc>
              <a:buFont typeface="Arial"/>
              <a:buChar char="•"/>
            </a:pPr>
            <a:r>
              <a:rPr lang="en-US" sz="3400">
                <a:solidFill>
                  <a:srgbClr val="272727"/>
                </a:solidFill>
                <a:latin typeface="Glacial Indifference"/>
                <a:ea typeface="Glacial Indifference"/>
                <a:cs typeface="Glacial Indifference"/>
                <a:sym typeface="Glacial Indifference"/>
              </a:rPr>
              <a:t>Evalu</a:t>
            </a:r>
            <a:r>
              <a:rPr lang="en-US" sz="3400">
                <a:solidFill>
                  <a:srgbClr val="272727"/>
                </a:solidFill>
                <a:latin typeface="Glacial Indifference"/>
                <a:ea typeface="Glacial Indifference"/>
                <a:cs typeface="Glacial Indifference"/>
                <a:sym typeface="Glacial Indifference"/>
              </a:rPr>
              <a:t>ate consistency and variability in dish-level profitability.</a:t>
            </a:r>
          </a:p>
          <a:p>
            <a:pPr algn="just" marL="734061" indent="-367031" lvl="1">
              <a:lnSpc>
                <a:spcPts val="4760"/>
              </a:lnSpc>
              <a:buFont typeface="Arial"/>
              <a:buChar char="•"/>
            </a:pPr>
            <a:r>
              <a:rPr lang="en-US" sz="3400">
                <a:solidFill>
                  <a:srgbClr val="272727"/>
                </a:solidFill>
                <a:latin typeface="Glacial Indifference"/>
                <a:ea typeface="Glacial Indifference"/>
                <a:cs typeface="Glacial Indifference"/>
                <a:sym typeface="Glacial Indifference"/>
              </a:rPr>
              <a:t>Provide data-driven insights to improve menu planning and reduce financial risk.</a:t>
            </a:r>
          </a:p>
          <a:p>
            <a:pPr algn="just">
              <a:lnSpc>
                <a:spcPts val="4900"/>
              </a:lnSpc>
            </a:pPr>
          </a:p>
        </p:txBody>
      </p:sp>
      <p:grpSp>
        <p:nvGrpSpPr>
          <p:cNvPr name="Group 4" id="4"/>
          <p:cNvGrpSpPr/>
          <p:nvPr/>
        </p:nvGrpSpPr>
        <p:grpSpPr>
          <a:xfrm rot="0">
            <a:off x="1028700" y="714843"/>
            <a:ext cx="1836362" cy="313857"/>
            <a:chOff x="0" y="0"/>
            <a:chExt cx="483651" cy="82662"/>
          </a:xfrm>
        </p:grpSpPr>
        <p:sp>
          <p:nvSpPr>
            <p:cNvPr name="Freeform 5" id="5"/>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6" id="6"/>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8" id="8"/>
          <p:cNvGrpSpPr/>
          <p:nvPr/>
        </p:nvGrpSpPr>
        <p:grpSpPr>
          <a:xfrm rot="0">
            <a:off x="13360918"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2" id="12"/>
          <p:cNvGrpSpPr/>
          <p:nvPr/>
        </p:nvGrpSpPr>
        <p:grpSpPr>
          <a:xfrm rot="0">
            <a:off x="14645036" y="714843"/>
            <a:ext cx="1071507" cy="313857"/>
            <a:chOff x="0" y="0"/>
            <a:chExt cx="282208" cy="82662"/>
          </a:xfrm>
        </p:grpSpPr>
        <p:sp>
          <p:nvSpPr>
            <p:cNvPr name="Freeform 13" id="13"/>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4" id="14"/>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6" id="16"/>
          <p:cNvGrpSpPr/>
          <p:nvPr/>
        </p:nvGrpSpPr>
        <p:grpSpPr>
          <a:xfrm rot="0">
            <a:off x="15929155" y="714843"/>
            <a:ext cx="1330145" cy="313857"/>
            <a:chOff x="0" y="0"/>
            <a:chExt cx="350326" cy="82662"/>
          </a:xfrm>
        </p:grpSpPr>
        <p:sp>
          <p:nvSpPr>
            <p:cNvPr name="Freeform 17" id="17"/>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8" id="18"/>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4537729"/>
            <a:ext cx="16230600" cy="1516341"/>
          </a:xfrm>
          <a:prstGeom prst="rect">
            <a:avLst/>
          </a:prstGeom>
        </p:spPr>
        <p:txBody>
          <a:bodyPr anchor="t" rtlCol="false" tIns="0" lIns="0" bIns="0" rIns="0">
            <a:spAutoFit/>
          </a:bodyPr>
          <a:lstStyle/>
          <a:p>
            <a:pPr algn="ctr">
              <a:lnSpc>
                <a:spcPts val="11158"/>
              </a:lnSpc>
            </a:pPr>
            <a:r>
              <a:rPr lang="en-US" sz="11998">
                <a:solidFill>
                  <a:srgbClr val="272727"/>
                </a:solidFill>
                <a:latin typeface="Questrial"/>
                <a:ea typeface="Questrial"/>
                <a:cs typeface="Questrial"/>
                <a:sym typeface="Questrial"/>
              </a:rPr>
              <a:t>METHODOLOGY</a:t>
            </a:r>
          </a:p>
        </p:txBody>
      </p:sp>
      <p:sp>
        <p:nvSpPr>
          <p:cNvPr name="TextBox 6" id="6"/>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7" id="7"/>
          <p:cNvGrpSpPr/>
          <p:nvPr/>
        </p:nvGrpSpPr>
        <p:grpSpPr>
          <a:xfrm rot="0">
            <a:off x="13360918" y="1028700"/>
            <a:ext cx="1071507" cy="313857"/>
            <a:chOff x="0" y="0"/>
            <a:chExt cx="282208" cy="82662"/>
          </a:xfrm>
        </p:grpSpPr>
        <p:sp>
          <p:nvSpPr>
            <p:cNvPr name="Freeform 8" id="8"/>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9" id="9"/>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1" id="11"/>
          <p:cNvGrpSpPr/>
          <p:nvPr/>
        </p:nvGrpSpPr>
        <p:grpSpPr>
          <a:xfrm rot="0">
            <a:off x="14645036" y="1028700"/>
            <a:ext cx="1071507" cy="313857"/>
            <a:chOff x="0" y="0"/>
            <a:chExt cx="282208" cy="82662"/>
          </a:xfrm>
        </p:grpSpPr>
        <p:sp>
          <p:nvSpPr>
            <p:cNvPr name="Freeform 12" id="12"/>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5" id="15"/>
          <p:cNvGrpSpPr/>
          <p:nvPr/>
        </p:nvGrpSpPr>
        <p:grpSpPr>
          <a:xfrm rot="0">
            <a:off x="15929155" y="1028700"/>
            <a:ext cx="1330145" cy="313857"/>
            <a:chOff x="0" y="0"/>
            <a:chExt cx="350326" cy="82662"/>
          </a:xfrm>
        </p:grpSpPr>
        <p:sp>
          <p:nvSpPr>
            <p:cNvPr name="Freeform 16" id="16"/>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7" id="17"/>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3410459" y="5328983"/>
            <a:ext cx="11947029" cy="4958017"/>
          </a:xfrm>
          <a:custGeom>
            <a:avLst/>
            <a:gdLst/>
            <a:ahLst/>
            <a:cxnLst/>
            <a:rect r="r" b="b" t="t" l="l"/>
            <a:pathLst>
              <a:path h="4958017" w="11947029">
                <a:moveTo>
                  <a:pt x="0" y="0"/>
                </a:moveTo>
                <a:lnTo>
                  <a:pt x="11947029" y="0"/>
                </a:lnTo>
                <a:lnTo>
                  <a:pt x="11947029" y="4958017"/>
                </a:lnTo>
                <a:lnTo>
                  <a:pt x="0" y="4958017"/>
                </a:lnTo>
                <a:lnTo>
                  <a:pt x="0" y="0"/>
                </a:lnTo>
                <a:close/>
              </a:path>
            </a:pathLst>
          </a:custGeom>
          <a:blipFill>
            <a:blip r:embed="rId2"/>
            <a:stretch>
              <a:fillRect l="0" t="0" r="0" b="0"/>
            </a:stretch>
          </a:blipFill>
        </p:spPr>
      </p:sp>
      <p:sp>
        <p:nvSpPr>
          <p:cNvPr name="TextBox 15" id="15"/>
          <p:cNvSpPr txBox="true"/>
          <p:nvPr/>
        </p:nvSpPr>
        <p:spPr>
          <a:xfrm rot="0">
            <a:off x="1946881" y="1786254"/>
            <a:ext cx="14874185" cy="3357246"/>
          </a:xfrm>
          <a:prstGeom prst="rect">
            <a:avLst/>
          </a:prstGeom>
        </p:spPr>
        <p:txBody>
          <a:bodyPr anchor="t" rtlCol="false" tIns="0" lIns="0" bIns="0" rIns="0">
            <a:spAutoFit/>
          </a:bodyPr>
          <a:lstStyle/>
          <a:p>
            <a:pPr algn="just" marL="690874" indent="-345437" lvl="1">
              <a:lnSpc>
                <a:spcPts val="4479"/>
              </a:lnSpc>
              <a:buFont typeface="Arial"/>
              <a:buChar char="•"/>
            </a:pPr>
            <a:r>
              <a:rPr lang="en-US" sz="3199">
                <a:solidFill>
                  <a:srgbClr val="272727"/>
                </a:solidFill>
                <a:latin typeface="Glacial Indifference"/>
                <a:ea typeface="Glacial Indifference"/>
                <a:cs typeface="Glacial Indifference"/>
                <a:sym typeface="Glacial Indifference"/>
              </a:rPr>
              <a:t>Data Collection:</a:t>
            </a:r>
          </a:p>
          <a:p>
            <a:pPr algn="just" marL="1381748" indent="-460583" lvl="2">
              <a:lnSpc>
                <a:spcPts val="4479"/>
              </a:lnSpc>
              <a:buFont typeface="Arial"/>
              <a:buChar char="⚬"/>
            </a:pPr>
            <a:r>
              <a:rPr lang="en-US" sz="3199">
                <a:solidFill>
                  <a:srgbClr val="272727"/>
                </a:solidFill>
                <a:latin typeface="Glacial Indifference"/>
                <a:ea typeface="Glacial Indifference"/>
                <a:cs typeface="Glacial Indifference"/>
                <a:sym typeface="Glacial Indifference"/>
              </a:rPr>
              <a:t>30 days of manually recorded production and sales data from a Filipino eatery with a rotating menu.</a:t>
            </a:r>
          </a:p>
          <a:p>
            <a:pPr algn="just" marL="690874" indent="-345437" lvl="1">
              <a:lnSpc>
                <a:spcPts val="4479"/>
              </a:lnSpc>
              <a:buFont typeface="Arial"/>
              <a:buChar char="•"/>
            </a:pPr>
            <a:r>
              <a:rPr lang="en-US" sz="3199">
                <a:solidFill>
                  <a:srgbClr val="272727"/>
                </a:solidFill>
                <a:latin typeface="Glacial Indifference"/>
                <a:ea typeface="Glacial Indifference"/>
                <a:cs typeface="Glacial Indifference"/>
                <a:sym typeface="Glacial Indifference"/>
              </a:rPr>
              <a:t>Variables Tracked:</a:t>
            </a:r>
          </a:p>
          <a:p>
            <a:pPr algn="just" marL="1381748" indent="-460583" lvl="2">
              <a:lnSpc>
                <a:spcPts val="4479"/>
              </a:lnSpc>
              <a:buFont typeface="Arial"/>
              <a:buChar char="⚬"/>
            </a:pPr>
            <a:r>
              <a:rPr lang="en-US" sz="3199">
                <a:solidFill>
                  <a:srgbClr val="272727"/>
                </a:solidFill>
                <a:latin typeface="Glacial Indifference"/>
                <a:ea typeface="Glacial Indifference"/>
                <a:cs typeface="Glacial Indifference"/>
                <a:sym typeface="Glacial Indifference"/>
              </a:rPr>
              <a:t>Dish type, cost, price, servings prepared, sold, unsold, revenue, profit, and waste rate.</a:t>
            </a: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9660143" y="1806429"/>
            <a:ext cx="7401550" cy="8494807"/>
          </a:xfrm>
          <a:custGeom>
            <a:avLst/>
            <a:gdLst/>
            <a:ahLst/>
            <a:cxnLst/>
            <a:rect r="r" b="b" t="t" l="l"/>
            <a:pathLst>
              <a:path h="8494807" w="7401550">
                <a:moveTo>
                  <a:pt x="0" y="0"/>
                </a:moveTo>
                <a:lnTo>
                  <a:pt x="7401550" y="0"/>
                </a:lnTo>
                <a:lnTo>
                  <a:pt x="7401550" y="8494807"/>
                </a:lnTo>
                <a:lnTo>
                  <a:pt x="0" y="8494807"/>
                </a:lnTo>
                <a:lnTo>
                  <a:pt x="0" y="0"/>
                </a:lnTo>
                <a:close/>
              </a:path>
            </a:pathLst>
          </a:custGeom>
          <a:blipFill>
            <a:blip r:embed="rId2"/>
            <a:stretch>
              <a:fillRect l="0" t="-2117" r="-143306" b="-1759"/>
            </a:stretch>
          </a:blipFill>
        </p:spPr>
      </p:sp>
      <p:sp>
        <p:nvSpPr>
          <p:cNvPr name="TextBox 15" id="15"/>
          <p:cNvSpPr txBox="true"/>
          <p:nvPr/>
        </p:nvSpPr>
        <p:spPr>
          <a:xfrm rot="0">
            <a:off x="1492870" y="1730229"/>
            <a:ext cx="7651130" cy="7529004"/>
          </a:xfrm>
          <a:prstGeom prst="rect">
            <a:avLst/>
          </a:prstGeom>
        </p:spPr>
        <p:txBody>
          <a:bodyPr anchor="t" rtlCol="false" tIns="0" lIns="0" bIns="0" rIns="0">
            <a:spAutoFit/>
          </a:bodyPr>
          <a:lstStyle/>
          <a:p>
            <a:pPr algn="l">
              <a:lnSpc>
                <a:spcPts val="5015"/>
              </a:lnSpc>
            </a:pPr>
            <a:r>
              <a:rPr lang="en-US" sz="3582">
                <a:solidFill>
                  <a:srgbClr val="272727"/>
                </a:solidFill>
                <a:latin typeface="Glacial Indifference"/>
                <a:ea typeface="Glacial Indifference"/>
                <a:cs typeface="Glacial Indifference"/>
                <a:sym typeface="Glacial Indifference"/>
              </a:rPr>
              <a:t>Data Processing</a:t>
            </a:r>
          </a:p>
          <a:p>
            <a:pPr algn="l" marL="773462" indent="-386731" lvl="1">
              <a:lnSpc>
                <a:spcPts val="5015"/>
              </a:lnSpc>
              <a:buFont typeface="Arial"/>
              <a:buChar char="•"/>
            </a:pPr>
            <a:r>
              <a:rPr lang="en-US" sz="3582">
                <a:solidFill>
                  <a:srgbClr val="272727"/>
                </a:solidFill>
                <a:latin typeface="Glacial Indifference"/>
                <a:ea typeface="Glacial Indifference"/>
                <a:cs typeface="Glacial Indifference"/>
                <a:sym typeface="Glacial Indifference"/>
              </a:rPr>
              <a:t>Verified data completeness and consistency.</a:t>
            </a:r>
          </a:p>
          <a:p>
            <a:pPr algn="l" marL="773462" indent="-386731" lvl="1">
              <a:lnSpc>
                <a:spcPts val="5015"/>
              </a:lnSpc>
              <a:buFont typeface="Arial"/>
              <a:buChar char="•"/>
            </a:pPr>
            <a:r>
              <a:rPr lang="en-US" sz="3582">
                <a:solidFill>
                  <a:srgbClr val="272727"/>
                </a:solidFill>
                <a:latin typeface="Glacial Indifference"/>
                <a:ea typeface="Glacial Indifference"/>
                <a:cs typeface="Glacial Indifference"/>
                <a:sym typeface="Glacial Indifference"/>
              </a:rPr>
              <a:t>Computed key metrics: revenue, profit, and waste rate.</a:t>
            </a:r>
          </a:p>
          <a:p>
            <a:pPr algn="l" marL="773462" indent="-386731" lvl="1">
              <a:lnSpc>
                <a:spcPts val="5015"/>
              </a:lnSpc>
              <a:buFont typeface="Arial"/>
              <a:buChar char="•"/>
            </a:pPr>
            <a:r>
              <a:rPr lang="en-US" sz="3582">
                <a:solidFill>
                  <a:srgbClr val="272727"/>
                </a:solidFill>
                <a:latin typeface="Glacial Indifference"/>
                <a:ea typeface="Glacial Indifference"/>
                <a:cs typeface="Glacial Indifference"/>
                <a:sym typeface="Glacial Indifference"/>
              </a:rPr>
              <a:t>Engineered additional features (e.g., profit margin, waste percentage, dish category indicators) to support analysis.</a:t>
            </a:r>
          </a:p>
          <a:p>
            <a:pPr algn="l" marL="773462" indent="-386731" lvl="1">
              <a:lnSpc>
                <a:spcPts val="5015"/>
              </a:lnSpc>
              <a:buFont typeface="Arial"/>
              <a:buChar char="•"/>
            </a:pPr>
            <a:r>
              <a:rPr lang="en-US" sz="3582">
                <a:solidFill>
                  <a:srgbClr val="272727"/>
                </a:solidFill>
                <a:latin typeface="Glacial Indifference"/>
                <a:ea typeface="Glacial Indifference"/>
                <a:cs typeface="Glacial Indifference"/>
                <a:sym typeface="Glacial Indifference"/>
              </a:rPr>
              <a:t>Screened for outliers and unusual values.</a:t>
            </a:r>
          </a:p>
          <a:p>
            <a:pPr algn="l">
              <a:lnSpc>
                <a:spcPts val="5015"/>
              </a:lnSpc>
            </a:pP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1028700"/>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1028700"/>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1028700"/>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819458" y="2219179"/>
            <a:ext cx="14649085" cy="6544946"/>
          </a:xfrm>
          <a:prstGeom prst="rect">
            <a:avLst/>
          </a:prstGeom>
        </p:spPr>
        <p:txBody>
          <a:bodyPr anchor="t" rtlCol="false" tIns="0" lIns="0" bIns="0" rIns="0">
            <a:spAutoFit/>
          </a:bodyPr>
          <a:lstStyle/>
          <a:p>
            <a:pPr algn="just">
              <a:lnSpc>
                <a:spcPts val="5179"/>
              </a:lnSpc>
            </a:pPr>
          </a:p>
          <a:p>
            <a:pPr algn="just" marL="798821" indent="-399411" lvl="1">
              <a:lnSpc>
                <a:spcPts val="5179"/>
              </a:lnSpc>
              <a:buFont typeface="Arial"/>
              <a:buChar char="•"/>
            </a:pPr>
            <a:r>
              <a:rPr lang="en-US" sz="3699">
                <a:solidFill>
                  <a:srgbClr val="272727"/>
                </a:solidFill>
                <a:latin typeface="Glacial Indifference"/>
                <a:ea typeface="Glacial Indifference"/>
                <a:cs typeface="Glacial Indifference"/>
                <a:sym typeface="Glacial Indifference"/>
              </a:rPr>
              <a:t>Analysis Techniques:</a:t>
            </a:r>
          </a:p>
          <a:p>
            <a:pPr algn="l" marL="1597643" indent="-532548" lvl="2">
              <a:lnSpc>
                <a:spcPts val="5179"/>
              </a:lnSpc>
              <a:buFont typeface="Arial"/>
              <a:buChar char="⚬"/>
            </a:pPr>
            <a:r>
              <a:rPr lang="en-US" sz="3699">
                <a:solidFill>
                  <a:srgbClr val="272727"/>
                </a:solidFill>
                <a:latin typeface="Glacial Indifference"/>
                <a:ea typeface="Glacial Indifference"/>
                <a:cs typeface="Glacial Indifference"/>
                <a:sym typeface="Glacial Indifference"/>
              </a:rPr>
              <a:t>Descriptive analytics (aggregation, ranking, visualization)</a:t>
            </a:r>
          </a:p>
          <a:p>
            <a:pPr algn="just" marL="1597643" indent="-532548" lvl="2">
              <a:lnSpc>
                <a:spcPts val="5179"/>
              </a:lnSpc>
              <a:buFont typeface="Arial"/>
              <a:buChar char="⚬"/>
            </a:pPr>
            <a:r>
              <a:rPr lang="en-US" sz="3699">
                <a:solidFill>
                  <a:srgbClr val="272727"/>
                </a:solidFill>
                <a:latin typeface="Glacial Indifference"/>
                <a:ea typeface="Glacial Indifference"/>
                <a:cs typeface="Glacial Indifference"/>
                <a:sym typeface="Glacial Indifference"/>
              </a:rPr>
              <a:t>Waste and profit trend analysis</a:t>
            </a:r>
          </a:p>
          <a:p>
            <a:pPr algn="just" marL="1597643" indent="-532548" lvl="2">
              <a:lnSpc>
                <a:spcPts val="5179"/>
              </a:lnSpc>
              <a:buFont typeface="Arial"/>
              <a:buChar char="⚬"/>
            </a:pPr>
            <a:r>
              <a:rPr lang="en-US" sz="3699">
                <a:solidFill>
                  <a:srgbClr val="272727"/>
                </a:solidFill>
                <a:latin typeface="Glacial Indifference"/>
                <a:ea typeface="Glacial Indifference"/>
                <a:cs typeface="Glacial Indifference"/>
                <a:sym typeface="Glacial Indifference"/>
              </a:rPr>
              <a:t>Category-level performance comparison</a:t>
            </a:r>
          </a:p>
          <a:p>
            <a:pPr algn="just" marL="798821" indent="-399411" lvl="1">
              <a:lnSpc>
                <a:spcPts val="5179"/>
              </a:lnSpc>
              <a:buFont typeface="Arial"/>
              <a:buChar char="•"/>
            </a:pPr>
            <a:r>
              <a:rPr lang="en-US" sz="3699">
                <a:solidFill>
                  <a:srgbClr val="272727"/>
                </a:solidFill>
                <a:latin typeface="Glacial Indifference"/>
                <a:ea typeface="Glacial Indifference"/>
                <a:cs typeface="Glacial Indifference"/>
                <a:sym typeface="Glacial Indifference"/>
              </a:rPr>
              <a:t>Statistical Tests:</a:t>
            </a:r>
          </a:p>
          <a:p>
            <a:pPr algn="just" marL="1597643" indent="-532548" lvl="2">
              <a:lnSpc>
                <a:spcPts val="5179"/>
              </a:lnSpc>
              <a:buFont typeface="Arial"/>
              <a:buChar char="⚬"/>
            </a:pPr>
            <a:r>
              <a:rPr lang="en-US" sz="3699">
                <a:solidFill>
                  <a:srgbClr val="272727"/>
                </a:solidFill>
                <a:latin typeface="Glacial Indifference"/>
                <a:ea typeface="Glacial Indifference"/>
                <a:cs typeface="Glacial Indifference"/>
                <a:sym typeface="Glacial Indifference"/>
              </a:rPr>
              <a:t>One-way ANOVA to detect profit differences across dish categories</a:t>
            </a:r>
          </a:p>
          <a:p>
            <a:pPr algn="just" marL="1597643" indent="-532548" lvl="2">
              <a:lnSpc>
                <a:spcPts val="5179"/>
              </a:lnSpc>
              <a:buFont typeface="Arial"/>
              <a:buChar char="⚬"/>
            </a:pPr>
            <a:r>
              <a:rPr lang="en-US" sz="3699">
                <a:solidFill>
                  <a:srgbClr val="272727"/>
                </a:solidFill>
                <a:latin typeface="Glacial Indifference"/>
                <a:ea typeface="Glacial Indifference"/>
                <a:cs typeface="Glacial Indifference"/>
                <a:sym typeface="Glacial Indifference"/>
              </a:rPr>
              <a:t>Pearson correlation to assess the relationship between waste rate and profit</a:t>
            </a:r>
          </a:p>
        </p:txBody>
      </p:sp>
      <p:sp>
        <p:nvSpPr>
          <p:cNvPr name="TextBox 15" id="15"/>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4537729"/>
            <a:ext cx="16230600" cy="2926041"/>
          </a:xfrm>
          <a:prstGeom prst="rect">
            <a:avLst/>
          </a:prstGeom>
        </p:spPr>
        <p:txBody>
          <a:bodyPr anchor="t" rtlCol="false" tIns="0" lIns="0" bIns="0" rIns="0">
            <a:spAutoFit/>
          </a:bodyPr>
          <a:lstStyle/>
          <a:p>
            <a:pPr algn="ctr">
              <a:lnSpc>
                <a:spcPts val="11158"/>
              </a:lnSpc>
            </a:pPr>
            <a:r>
              <a:rPr lang="en-US" sz="11998">
                <a:solidFill>
                  <a:srgbClr val="272727"/>
                </a:solidFill>
                <a:latin typeface="Questrial"/>
                <a:ea typeface="Questrial"/>
                <a:cs typeface="Questrial"/>
                <a:sym typeface="Questrial"/>
              </a:rPr>
              <a:t>RESULTS AND DISCUSSION</a:t>
            </a:r>
          </a:p>
        </p:txBody>
      </p:sp>
      <p:sp>
        <p:nvSpPr>
          <p:cNvPr name="TextBox 6" id="6"/>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7" id="7"/>
          <p:cNvGrpSpPr/>
          <p:nvPr/>
        </p:nvGrpSpPr>
        <p:grpSpPr>
          <a:xfrm rot="0">
            <a:off x="13360918" y="1028700"/>
            <a:ext cx="1071507" cy="313857"/>
            <a:chOff x="0" y="0"/>
            <a:chExt cx="282208" cy="82662"/>
          </a:xfrm>
        </p:grpSpPr>
        <p:sp>
          <p:nvSpPr>
            <p:cNvPr name="Freeform 8" id="8"/>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9" id="9"/>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1" id="11"/>
          <p:cNvGrpSpPr/>
          <p:nvPr/>
        </p:nvGrpSpPr>
        <p:grpSpPr>
          <a:xfrm rot="0">
            <a:off x="14645036" y="1028700"/>
            <a:ext cx="1071507" cy="313857"/>
            <a:chOff x="0" y="0"/>
            <a:chExt cx="282208" cy="82662"/>
          </a:xfrm>
        </p:grpSpPr>
        <p:sp>
          <p:nvSpPr>
            <p:cNvPr name="Freeform 12" id="12"/>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5" id="15"/>
          <p:cNvGrpSpPr/>
          <p:nvPr/>
        </p:nvGrpSpPr>
        <p:grpSpPr>
          <a:xfrm rot="0">
            <a:off x="15929155" y="1028700"/>
            <a:ext cx="1330145" cy="313857"/>
            <a:chOff x="0" y="0"/>
            <a:chExt cx="350326" cy="82662"/>
          </a:xfrm>
        </p:grpSpPr>
        <p:sp>
          <p:nvSpPr>
            <p:cNvPr name="Freeform 16" id="16"/>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7" id="17"/>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4702531" y="1158051"/>
            <a:ext cx="8879786" cy="1121957"/>
          </a:xfrm>
          <a:prstGeom prst="rect">
            <a:avLst/>
          </a:prstGeom>
        </p:spPr>
        <p:txBody>
          <a:bodyPr anchor="t" rtlCol="false" tIns="0" lIns="0" bIns="0" rIns="0">
            <a:spAutoFit/>
          </a:bodyPr>
          <a:lstStyle/>
          <a:p>
            <a:pPr algn="l">
              <a:lnSpc>
                <a:spcPts val="8513"/>
              </a:lnSpc>
            </a:pPr>
            <a:r>
              <a:rPr lang="en-US" sz="7956">
                <a:solidFill>
                  <a:srgbClr val="272727"/>
                </a:solidFill>
                <a:latin typeface="Questrial"/>
                <a:ea typeface="Questrial"/>
                <a:cs typeface="Questrial"/>
                <a:sym typeface="Questrial"/>
              </a:rPr>
              <a:t>Distribution of Profit</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Freeform 19" id="19"/>
          <p:cNvSpPr/>
          <p:nvPr/>
        </p:nvSpPr>
        <p:spPr>
          <a:xfrm flipH="false" flipV="false" rot="0">
            <a:off x="2516693" y="2327633"/>
            <a:ext cx="13254614" cy="7772321"/>
          </a:xfrm>
          <a:custGeom>
            <a:avLst/>
            <a:gdLst/>
            <a:ahLst/>
            <a:cxnLst/>
            <a:rect r="r" b="b" t="t" l="l"/>
            <a:pathLst>
              <a:path h="7772321" w="13254614">
                <a:moveTo>
                  <a:pt x="0" y="0"/>
                </a:moveTo>
                <a:lnTo>
                  <a:pt x="13254614" y="0"/>
                </a:lnTo>
                <a:lnTo>
                  <a:pt x="13254614" y="7772321"/>
                </a:lnTo>
                <a:lnTo>
                  <a:pt x="0" y="7772321"/>
                </a:lnTo>
                <a:lnTo>
                  <a:pt x="0" y="0"/>
                </a:lnTo>
                <a:close/>
              </a:path>
            </a:pathLst>
          </a:custGeom>
          <a:blipFill>
            <a:blip r:embed="rId2"/>
            <a:stretch>
              <a:fillRect l="0" t="0" r="-23"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264831" y="2280008"/>
            <a:ext cx="15758338" cy="7800377"/>
          </a:xfrm>
          <a:custGeom>
            <a:avLst/>
            <a:gdLst/>
            <a:ahLst/>
            <a:cxnLst/>
            <a:rect r="r" b="b" t="t" l="l"/>
            <a:pathLst>
              <a:path h="7800377" w="15758338">
                <a:moveTo>
                  <a:pt x="0" y="0"/>
                </a:moveTo>
                <a:lnTo>
                  <a:pt x="15758338" y="0"/>
                </a:lnTo>
                <a:lnTo>
                  <a:pt x="15758338" y="7800378"/>
                </a:lnTo>
                <a:lnTo>
                  <a:pt x="0" y="7800378"/>
                </a:lnTo>
                <a:lnTo>
                  <a:pt x="0" y="0"/>
                </a:lnTo>
                <a:close/>
              </a:path>
            </a:pathLst>
          </a:custGeom>
          <a:blipFill>
            <a:blip r:embed="rId2"/>
            <a:stretch>
              <a:fillRect l="0" t="0" r="0" b="0"/>
            </a:stretch>
          </a:blipFill>
        </p:spPr>
      </p:sp>
      <p:sp>
        <p:nvSpPr>
          <p:cNvPr name="TextBox 15" id="15"/>
          <p:cNvSpPr txBox="true"/>
          <p:nvPr/>
        </p:nvSpPr>
        <p:spPr>
          <a:xfrm rot="0">
            <a:off x="3173424" y="1232979"/>
            <a:ext cx="11941151" cy="1047029"/>
          </a:xfrm>
          <a:prstGeom prst="rect">
            <a:avLst/>
          </a:prstGeom>
        </p:spPr>
        <p:txBody>
          <a:bodyPr anchor="t" rtlCol="false" tIns="0" lIns="0" bIns="0" rIns="0">
            <a:spAutoFit/>
          </a:bodyPr>
          <a:lstStyle/>
          <a:p>
            <a:pPr algn="l">
              <a:lnSpc>
                <a:spcPts val="7978"/>
              </a:lnSpc>
            </a:pPr>
            <a:r>
              <a:rPr lang="en-US" sz="7456">
                <a:solidFill>
                  <a:srgbClr val="272727"/>
                </a:solidFill>
                <a:latin typeface="Questrial"/>
                <a:ea typeface="Questrial"/>
                <a:cs typeface="Questrial"/>
                <a:sym typeface="Questrial"/>
              </a:rPr>
              <a:t>Daily Profit and Waste Trend</a:t>
            </a: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3255046" y="2277881"/>
            <a:ext cx="11777908" cy="7827278"/>
          </a:xfrm>
          <a:custGeom>
            <a:avLst/>
            <a:gdLst/>
            <a:ahLst/>
            <a:cxnLst/>
            <a:rect r="r" b="b" t="t" l="l"/>
            <a:pathLst>
              <a:path h="7827278" w="11777908">
                <a:moveTo>
                  <a:pt x="0" y="0"/>
                </a:moveTo>
                <a:lnTo>
                  <a:pt x="11777908" y="0"/>
                </a:lnTo>
                <a:lnTo>
                  <a:pt x="11777908" y="7827278"/>
                </a:lnTo>
                <a:lnTo>
                  <a:pt x="0" y="7827278"/>
                </a:lnTo>
                <a:lnTo>
                  <a:pt x="0" y="0"/>
                </a:lnTo>
                <a:close/>
              </a:path>
            </a:pathLst>
          </a:custGeom>
          <a:blipFill>
            <a:blip r:embed="rId2"/>
            <a:stretch>
              <a:fillRect l="0" t="0" r="0" b="0"/>
            </a:stretch>
          </a:blipFill>
        </p:spPr>
      </p:sp>
      <p:sp>
        <p:nvSpPr>
          <p:cNvPr name="TextBox 15" id="15"/>
          <p:cNvSpPr txBox="true"/>
          <p:nvPr/>
        </p:nvSpPr>
        <p:spPr>
          <a:xfrm rot="0">
            <a:off x="6414870" y="1230852"/>
            <a:ext cx="5754854" cy="1047029"/>
          </a:xfrm>
          <a:prstGeom prst="rect">
            <a:avLst/>
          </a:prstGeom>
        </p:spPr>
        <p:txBody>
          <a:bodyPr anchor="t" rtlCol="false" tIns="0" lIns="0" bIns="0" rIns="0">
            <a:spAutoFit/>
          </a:bodyPr>
          <a:lstStyle/>
          <a:p>
            <a:pPr algn="l">
              <a:lnSpc>
                <a:spcPts val="7978"/>
              </a:lnSpc>
            </a:pPr>
            <a:r>
              <a:rPr lang="en-US" sz="7456">
                <a:solidFill>
                  <a:srgbClr val="272727"/>
                </a:solidFill>
                <a:latin typeface="Questrial"/>
                <a:ea typeface="Questrial"/>
                <a:cs typeface="Questrial"/>
                <a:sym typeface="Questrial"/>
              </a:rPr>
              <a:t>Profit by Dish</a:t>
            </a: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3321794" y="2456133"/>
            <a:ext cx="11644412" cy="7830867"/>
          </a:xfrm>
          <a:custGeom>
            <a:avLst/>
            <a:gdLst/>
            <a:ahLst/>
            <a:cxnLst/>
            <a:rect r="r" b="b" t="t" l="l"/>
            <a:pathLst>
              <a:path h="7830867" w="11644412">
                <a:moveTo>
                  <a:pt x="0" y="0"/>
                </a:moveTo>
                <a:lnTo>
                  <a:pt x="11644412" y="0"/>
                </a:lnTo>
                <a:lnTo>
                  <a:pt x="11644412" y="7830867"/>
                </a:lnTo>
                <a:lnTo>
                  <a:pt x="0" y="7830867"/>
                </a:lnTo>
                <a:lnTo>
                  <a:pt x="0" y="0"/>
                </a:lnTo>
                <a:close/>
              </a:path>
            </a:pathLst>
          </a:custGeom>
          <a:blipFill>
            <a:blip r:embed="rId2"/>
            <a:stretch>
              <a:fillRect l="0" t="0" r="0" b="0"/>
            </a:stretch>
          </a:blipFill>
        </p:spPr>
      </p:sp>
      <p:sp>
        <p:nvSpPr>
          <p:cNvPr name="TextBox 15" id="15"/>
          <p:cNvSpPr txBox="true"/>
          <p:nvPr/>
        </p:nvSpPr>
        <p:spPr>
          <a:xfrm rot="0">
            <a:off x="3092657" y="1261765"/>
            <a:ext cx="12102685" cy="1047029"/>
          </a:xfrm>
          <a:prstGeom prst="rect">
            <a:avLst/>
          </a:prstGeom>
        </p:spPr>
        <p:txBody>
          <a:bodyPr anchor="t" rtlCol="false" tIns="0" lIns="0" bIns="0" rIns="0">
            <a:spAutoFit/>
          </a:bodyPr>
          <a:lstStyle/>
          <a:p>
            <a:pPr algn="l">
              <a:lnSpc>
                <a:spcPts val="7978"/>
              </a:lnSpc>
            </a:pPr>
            <a:r>
              <a:rPr lang="en-US" sz="7456">
                <a:solidFill>
                  <a:srgbClr val="272727"/>
                </a:solidFill>
                <a:latin typeface="Questrial"/>
                <a:ea typeface="Questrial"/>
                <a:cs typeface="Questrial"/>
                <a:sym typeface="Questrial"/>
              </a:rPr>
              <a:t>Total Waste Loss by Dish</a:t>
            </a: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2997987" y="2276917"/>
            <a:ext cx="12292025" cy="8204927"/>
          </a:xfrm>
          <a:custGeom>
            <a:avLst/>
            <a:gdLst/>
            <a:ahLst/>
            <a:cxnLst/>
            <a:rect r="r" b="b" t="t" l="l"/>
            <a:pathLst>
              <a:path h="8204927" w="12292025">
                <a:moveTo>
                  <a:pt x="0" y="0"/>
                </a:moveTo>
                <a:lnTo>
                  <a:pt x="12292026" y="0"/>
                </a:lnTo>
                <a:lnTo>
                  <a:pt x="12292026" y="8204926"/>
                </a:lnTo>
                <a:lnTo>
                  <a:pt x="0" y="8204926"/>
                </a:lnTo>
                <a:lnTo>
                  <a:pt x="0" y="0"/>
                </a:lnTo>
                <a:close/>
              </a:path>
            </a:pathLst>
          </a:custGeom>
          <a:blipFill>
            <a:blip r:embed="rId2"/>
            <a:stretch>
              <a:fillRect l="0" t="0" r="0" b="0"/>
            </a:stretch>
          </a:blipFill>
        </p:spPr>
      </p:sp>
      <p:sp>
        <p:nvSpPr>
          <p:cNvPr name="TextBox 15" id="15"/>
          <p:cNvSpPr txBox="true"/>
          <p:nvPr/>
        </p:nvSpPr>
        <p:spPr>
          <a:xfrm rot="0">
            <a:off x="3092657" y="1261765"/>
            <a:ext cx="12642926" cy="1015152"/>
          </a:xfrm>
          <a:prstGeom prst="rect">
            <a:avLst/>
          </a:prstGeom>
        </p:spPr>
        <p:txBody>
          <a:bodyPr anchor="t" rtlCol="false" tIns="0" lIns="0" bIns="0" rIns="0">
            <a:spAutoFit/>
          </a:bodyPr>
          <a:lstStyle/>
          <a:p>
            <a:pPr algn="l">
              <a:lnSpc>
                <a:spcPts val="7764"/>
              </a:lnSpc>
            </a:pPr>
            <a:r>
              <a:rPr lang="en-US" sz="7256">
                <a:solidFill>
                  <a:srgbClr val="272727"/>
                </a:solidFill>
                <a:latin typeface="Questrial"/>
                <a:ea typeface="Questrial"/>
                <a:cs typeface="Questrial"/>
                <a:sym typeface="Questrial"/>
              </a:rPr>
              <a:t>Mean Profit per Dish Category</a:t>
            </a: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3416073" y="2419792"/>
            <a:ext cx="11455854" cy="7618143"/>
          </a:xfrm>
          <a:custGeom>
            <a:avLst/>
            <a:gdLst/>
            <a:ahLst/>
            <a:cxnLst/>
            <a:rect r="r" b="b" t="t" l="l"/>
            <a:pathLst>
              <a:path h="7618143" w="11455854">
                <a:moveTo>
                  <a:pt x="0" y="0"/>
                </a:moveTo>
                <a:lnTo>
                  <a:pt x="11455854" y="0"/>
                </a:lnTo>
                <a:lnTo>
                  <a:pt x="11455854" y="7618143"/>
                </a:lnTo>
                <a:lnTo>
                  <a:pt x="0" y="7618143"/>
                </a:lnTo>
                <a:lnTo>
                  <a:pt x="0" y="0"/>
                </a:lnTo>
                <a:close/>
              </a:path>
            </a:pathLst>
          </a:custGeom>
          <a:blipFill>
            <a:blip r:embed="rId2"/>
            <a:stretch>
              <a:fillRect l="0" t="0" r="0" b="0"/>
            </a:stretch>
          </a:blipFill>
        </p:spPr>
      </p:sp>
      <p:sp>
        <p:nvSpPr>
          <p:cNvPr name="TextBox 15" id="15"/>
          <p:cNvSpPr txBox="true"/>
          <p:nvPr/>
        </p:nvSpPr>
        <p:spPr>
          <a:xfrm rot="0">
            <a:off x="3092657" y="1242715"/>
            <a:ext cx="12642926" cy="1002325"/>
          </a:xfrm>
          <a:prstGeom prst="rect">
            <a:avLst/>
          </a:prstGeom>
        </p:spPr>
        <p:txBody>
          <a:bodyPr anchor="t" rtlCol="false" tIns="0" lIns="0" bIns="0" rIns="0">
            <a:spAutoFit/>
          </a:bodyPr>
          <a:lstStyle/>
          <a:p>
            <a:pPr algn="l">
              <a:lnSpc>
                <a:spcPts val="7550"/>
              </a:lnSpc>
            </a:pPr>
            <a:r>
              <a:rPr lang="en-US" sz="7056">
                <a:solidFill>
                  <a:srgbClr val="272727"/>
                </a:solidFill>
                <a:latin typeface="Questrial"/>
                <a:ea typeface="Questrial"/>
                <a:cs typeface="Questrial"/>
                <a:sym typeface="Questrial"/>
              </a:rPr>
              <a:t>Mean Waste Rate by Dish Type</a:t>
            </a:r>
          </a:p>
        </p:txBody>
      </p:sp>
      <p:sp>
        <p:nvSpPr>
          <p:cNvPr name="TextBox 16" id="16"/>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7" id="17"/>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8" id="18"/>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9" id="19"/>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118561" y="1906940"/>
            <a:ext cx="8050878" cy="1002325"/>
          </a:xfrm>
          <a:prstGeom prst="rect">
            <a:avLst/>
          </a:prstGeom>
        </p:spPr>
        <p:txBody>
          <a:bodyPr anchor="t" rtlCol="false" tIns="0" lIns="0" bIns="0" rIns="0">
            <a:spAutoFit/>
          </a:bodyPr>
          <a:lstStyle/>
          <a:p>
            <a:pPr algn="l">
              <a:lnSpc>
                <a:spcPts val="7550"/>
              </a:lnSpc>
            </a:pPr>
            <a:r>
              <a:rPr lang="en-US" sz="7056">
                <a:solidFill>
                  <a:srgbClr val="272727"/>
                </a:solidFill>
                <a:latin typeface="Questrial"/>
                <a:ea typeface="Questrial"/>
                <a:cs typeface="Questrial"/>
                <a:sym typeface="Questrial"/>
              </a:rPr>
              <a:t>Pearson Correlation</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3283190" y="4305300"/>
            <a:ext cx="11721621" cy="1581150"/>
          </a:xfrm>
          <a:prstGeom prst="rect">
            <a:avLst/>
          </a:prstGeom>
        </p:spPr>
        <p:txBody>
          <a:bodyPr anchor="t" rtlCol="false" tIns="0" lIns="0" bIns="0" rIns="0">
            <a:spAutoFit/>
          </a:bodyPr>
          <a:lstStyle/>
          <a:p>
            <a:pPr algn="ctr">
              <a:lnSpc>
                <a:spcPts val="6299"/>
              </a:lnSpc>
              <a:spcBef>
                <a:spcPct val="0"/>
              </a:spcBef>
            </a:pPr>
            <a:r>
              <a:rPr lang="en-US" sz="4500">
                <a:solidFill>
                  <a:srgbClr val="272727"/>
                </a:solidFill>
                <a:latin typeface="Manjari"/>
                <a:ea typeface="Manjari"/>
                <a:cs typeface="Manjari"/>
                <a:sym typeface="Manjari"/>
              </a:rPr>
              <a:t>H₀: No linear correlation (r = 0)</a:t>
            </a:r>
          </a:p>
          <a:p>
            <a:pPr algn="ctr">
              <a:lnSpc>
                <a:spcPts val="6299"/>
              </a:lnSpc>
              <a:spcBef>
                <a:spcPct val="0"/>
              </a:spcBef>
            </a:pPr>
            <a:r>
              <a:rPr lang="en-US" sz="4500">
                <a:solidFill>
                  <a:srgbClr val="272727"/>
                </a:solidFill>
                <a:latin typeface="Manjari"/>
                <a:ea typeface="Manjari"/>
                <a:cs typeface="Manjari"/>
                <a:sym typeface="Manjari"/>
              </a:rPr>
              <a:t>H₁: Significant linear correlation (r ≠ 0)</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3894801" y="64900"/>
            <a:ext cx="10498399" cy="10157201"/>
          </a:xfrm>
          <a:custGeom>
            <a:avLst/>
            <a:gdLst/>
            <a:ahLst/>
            <a:cxnLst/>
            <a:rect r="r" b="b" t="t" l="l"/>
            <a:pathLst>
              <a:path h="10157201" w="10498399">
                <a:moveTo>
                  <a:pt x="0" y="0"/>
                </a:moveTo>
                <a:lnTo>
                  <a:pt x="10498398" y="0"/>
                </a:lnTo>
                <a:lnTo>
                  <a:pt x="10498398" y="10157200"/>
                </a:lnTo>
                <a:lnTo>
                  <a:pt x="0" y="1015720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5" id="15"/>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6" id="16"/>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7" id="17"/>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8" id="18"/>
          <p:cNvSpPr txBox="true"/>
          <p:nvPr/>
        </p:nvSpPr>
        <p:spPr>
          <a:xfrm rot="0">
            <a:off x="1609247" y="2087354"/>
            <a:ext cx="6544312" cy="3128388"/>
          </a:xfrm>
          <a:prstGeom prst="rect">
            <a:avLst/>
          </a:prstGeom>
        </p:spPr>
        <p:txBody>
          <a:bodyPr anchor="t" rtlCol="false" tIns="0" lIns="0" bIns="0" rIns="0">
            <a:spAutoFit/>
          </a:bodyPr>
          <a:lstStyle/>
          <a:p>
            <a:pPr algn="ctr">
              <a:lnSpc>
                <a:spcPts val="5019"/>
              </a:lnSpc>
            </a:pPr>
            <a:r>
              <a:rPr lang="en-US" b="true" sz="3585">
                <a:solidFill>
                  <a:srgbClr val="272727"/>
                </a:solidFill>
                <a:latin typeface="Manjari Bold"/>
                <a:ea typeface="Manjari Bold"/>
                <a:cs typeface="Manjari Bold"/>
                <a:sym typeface="Manjari Bold"/>
              </a:rPr>
              <a:t>Strongest Profit Drivers</a:t>
            </a:r>
          </a:p>
          <a:p>
            <a:pPr algn="ctr">
              <a:lnSpc>
                <a:spcPts val="5019"/>
              </a:lnSpc>
            </a:pPr>
            <a:r>
              <a:rPr lang="en-US" sz="3585">
                <a:solidFill>
                  <a:srgbClr val="272727"/>
                </a:solidFill>
                <a:latin typeface="Manjari"/>
                <a:ea typeface="Manjari"/>
                <a:cs typeface="Manjari"/>
                <a:sym typeface="Manjari"/>
              </a:rPr>
              <a:t>Profit &amp;</a:t>
            </a:r>
            <a:r>
              <a:rPr lang="en-US" sz="3585">
                <a:solidFill>
                  <a:srgbClr val="272727"/>
                </a:solidFill>
                <a:latin typeface="Manjari"/>
                <a:ea typeface="Manjari"/>
                <a:cs typeface="Manjari"/>
                <a:sym typeface="Manjari"/>
              </a:rPr>
              <a:t> Profit Margin: r = 0.947</a:t>
            </a:r>
          </a:p>
          <a:p>
            <a:pPr algn="ctr">
              <a:lnSpc>
                <a:spcPts val="5019"/>
              </a:lnSpc>
            </a:pPr>
            <a:r>
              <a:rPr lang="en-US" sz="3585">
                <a:solidFill>
                  <a:srgbClr val="272727"/>
                </a:solidFill>
                <a:latin typeface="Manjari"/>
                <a:ea typeface="Manjari"/>
                <a:cs typeface="Manjari"/>
                <a:sym typeface="Manjari"/>
              </a:rPr>
              <a:t>Profit &amp; Cost Ratio: r = −0.947</a:t>
            </a:r>
          </a:p>
          <a:p>
            <a:pPr algn="ctr">
              <a:lnSpc>
                <a:spcPts val="5019"/>
              </a:lnSpc>
            </a:pPr>
            <a:r>
              <a:rPr lang="en-US" sz="3585">
                <a:solidFill>
                  <a:srgbClr val="272727"/>
                </a:solidFill>
                <a:latin typeface="Manjari"/>
                <a:ea typeface="Manjari"/>
                <a:cs typeface="Manjari"/>
                <a:sym typeface="Manjari"/>
              </a:rPr>
              <a:t>Profit &amp; Cost: r = −0.630</a:t>
            </a:r>
          </a:p>
          <a:p>
            <a:pPr algn="ctr">
              <a:lnSpc>
                <a:spcPts val="5019"/>
              </a:lnSpc>
            </a:pPr>
          </a:p>
        </p:txBody>
      </p:sp>
      <p:sp>
        <p:nvSpPr>
          <p:cNvPr name="TextBox 19" id="19"/>
          <p:cNvSpPr txBox="true"/>
          <p:nvPr/>
        </p:nvSpPr>
        <p:spPr>
          <a:xfrm rot="0">
            <a:off x="9388320" y="2087354"/>
            <a:ext cx="6544312" cy="2499738"/>
          </a:xfrm>
          <a:prstGeom prst="rect">
            <a:avLst/>
          </a:prstGeom>
        </p:spPr>
        <p:txBody>
          <a:bodyPr anchor="t" rtlCol="false" tIns="0" lIns="0" bIns="0" rIns="0">
            <a:spAutoFit/>
          </a:bodyPr>
          <a:lstStyle/>
          <a:p>
            <a:pPr algn="ctr">
              <a:lnSpc>
                <a:spcPts val="5019"/>
              </a:lnSpc>
            </a:pPr>
            <a:r>
              <a:rPr lang="en-US" b="true" sz="3585">
                <a:solidFill>
                  <a:srgbClr val="272727"/>
                </a:solidFill>
                <a:latin typeface="Manjari Bold"/>
                <a:ea typeface="Manjari Bold"/>
                <a:cs typeface="Manjari Bold"/>
                <a:sym typeface="Manjari Bold"/>
              </a:rPr>
              <a:t>Sales Relationships</a:t>
            </a:r>
          </a:p>
          <a:p>
            <a:pPr algn="ctr">
              <a:lnSpc>
                <a:spcPts val="5019"/>
              </a:lnSpc>
            </a:pPr>
            <a:r>
              <a:rPr lang="en-US" sz="3585">
                <a:solidFill>
                  <a:srgbClr val="272727"/>
                </a:solidFill>
                <a:latin typeface="Manjari"/>
                <a:ea typeface="Manjari"/>
                <a:cs typeface="Manjari"/>
                <a:sym typeface="Manjari"/>
              </a:rPr>
              <a:t>Se</a:t>
            </a:r>
            <a:r>
              <a:rPr lang="en-US" sz="3585">
                <a:solidFill>
                  <a:srgbClr val="272727"/>
                </a:solidFill>
                <a:latin typeface="Manjari"/>
                <a:ea typeface="Manjari"/>
                <a:cs typeface="Manjari"/>
                <a:sym typeface="Manjari"/>
              </a:rPr>
              <a:t>rvings &amp;</a:t>
            </a:r>
            <a:r>
              <a:rPr lang="en-US" sz="3585">
                <a:solidFill>
                  <a:srgbClr val="272727"/>
                </a:solidFill>
                <a:latin typeface="Manjari"/>
                <a:ea typeface="Manjari"/>
                <a:cs typeface="Manjari"/>
                <a:sym typeface="Manjari"/>
              </a:rPr>
              <a:t> Units Sold: r = 0.800</a:t>
            </a:r>
          </a:p>
          <a:p>
            <a:pPr algn="ctr">
              <a:lnSpc>
                <a:spcPts val="5019"/>
              </a:lnSpc>
            </a:pPr>
            <a:r>
              <a:rPr lang="en-US" sz="3585">
                <a:solidFill>
                  <a:srgbClr val="272727"/>
                </a:solidFill>
                <a:latin typeface="Manjari"/>
                <a:ea typeface="Manjari"/>
                <a:cs typeface="Manjari"/>
                <a:sym typeface="Manjari"/>
              </a:rPr>
              <a:t>Profit &amp; Units Sold: r = 0.561</a:t>
            </a:r>
          </a:p>
          <a:p>
            <a:pPr algn="ctr">
              <a:lnSpc>
                <a:spcPts val="5019"/>
              </a:lnSpc>
            </a:pPr>
          </a:p>
        </p:txBody>
      </p:sp>
      <p:sp>
        <p:nvSpPr>
          <p:cNvPr name="TextBox 20" id="20"/>
          <p:cNvSpPr txBox="true"/>
          <p:nvPr/>
        </p:nvSpPr>
        <p:spPr>
          <a:xfrm rot="0">
            <a:off x="1609247" y="5825825"/>
            <a:ext cx="6544312" cy="2499738"/>
          </a:xfrm>
          <a:prstGeom prst="rect">
            <a:avLst/>
          </a:prstGeom>
        </p:spPr>
        <p:txBody>
          <a:bodyPr anchor="t" rtlCol="false" tIns="0" lIns="0" bIns="0" rIns="0">
            <a:spAutoFit/>
          </a:bodyPr>
          <a:lstStyle/>
          <a:p>
            <a:pPr algn="ctr">
              <a:lnSpc>
                <a:spcPts val="5019"/>
              </a:lnSpc>
            </a:pPr>
            <a:r>
              <a:rPr lang="en-US" b="true" sz="3585">
                <a:solidFill>
                  <a:srgbClr val="272727"/>
                </a:solidFill>
                <a:latin typeface="Manjari Bold"/>
                <a:ea typeface="Manjari Bold"/>
                <a:cs typeface="Manjari Bold"/>
                <a:sym typeface="Manjari Bold"/>
              </a:rPr>
              <a:t>Waste Effects</a:t>
            </a:r>
          </a:p>
          <a:p>
            <a:pPr algn="ctr">
              <a:lnSpc>
                <a:spcPts val="5019"/>
              </a:lnSpc>
            </a:pPr>
            <a:r>
              <a:rPr lang="en-US" sz="3585">
                <a:solidFill>
                  <a:srgbClr val="272727"/>
                </a:solidFill>
                <a:latin typeface="Manjari"/>
                <a:ea typeface="Manjari"/>
                <a:cs typeface="Manjari"/>
                <a:sym typeface="Manjari"/>
              </a:rPr>
              <a:t>Waste Rat</a:t>
            </a:r>
            <a:r>
              <a:rPr lang="en-US" sz="3585">
                <a:solidFill>
                  <a:srgbClr val="272727"/>
                </a:solidFill>
                <a:latin typeface="Manjari"/>
                <a:ea typeface="Manjari"/>
                <a:cs typeface="Manjari"/>
                <a:sym typeface="Manjari"/>
              </a:rPr>
              <a:t>e</a:t>
            </a:r>
            <a:r>
              <a:rPr lang="en-US" sz="3585">
                <a:solidFill>
                  <a:srgbClr val="272727"/>
                </a:solidFill>
                <a:latin typeface="Manjari"/>
                <a:ea typeface="Manjari"/>
                <a:cs typeface="Manjari"/>
                <a:sym typeface="Manjari"/>
              </a:rPr>
              <a:t> &amp;</a:t>
            </a:r>
            <a:r>
              <a:rPr lang="en-US" sz="3585">
                <a:solidFill>
                  <a:srgbClr val="272727"/>
                </a:solidFill>
                <a:latin typeface="Manjari"/>
                <a:ea typeface="Manjari"/>
                <a:cs typeface="Manjari"/>
                <a:sym typeface="Manjari"/>
              </a:rPr>
              <a:t> Unsold: r = 0.995</a:t>
            </a:r>
          </a:p>
          <a:p>
            <a:pPr algn="ctr">
              <a:lnSpc>
                <a:spcPts val="5019"/>
              </a:lnSpc>
            </a:pPr>
            <a:r>
              <a:rPr lang="en-US" sz="3585">
                <a:solidFill>
                  <a:srgbClr val="272727"/>
                </a:solidFill>
                <a:latin typeface="Manjari"/>
                <a:ea typeface="Manjari"/>
                <a:cs typeface="Manjari"/>
                <a:sym typeface="Manjari"/>
              </a:rPr>
              <a:t>Profit &amp; Waste Rate: r = −0.337</a:t>
            </a:r>
          </a:p>
          <a:p>
            <a:pPr algn="ctr">
              <a:lnSpc>
                <a:spcPts val="5019"/>
              </a:lnSpc>
            </a:pPr>
          </a:p>
        </p:txBody>
      </p:sp>
      <p:sp>
        <p:nvSpPr>
          <p:cNvPr name="TextBox 21" id="21"/>
          <p:cNvSpPr txBox="true"/>
          <p:nvPr/>
        </p:nvSpPr>
        <p:spPr>
          <a:xfrm rot="0">
            <a:off x="9388320" y="5644366"/>
            <a:ext cx="6544312" cy="3757038"/>
          </a:xfrm>
          <a:prstGeom prst="rect">
            <a:avLst/>
          </a:prstGeom>
        </p:spPr>
        <p:txBody>
          <a:bodyPr anchor="t" rtlCol="false" tIns="0" lIns="0" bIns="0" rIns="0">
            <a:spAutoFit/>
          </a:bodyPr>
          <a:lstStyle/>
          <a:p>
            <a:pPr algn="ctr">
              <a:lnSpc>
                <a:spcPts val="5019"/>
              </a:lnSpc>
            </a:pPr>
            <a:r>
              <a:rPr lang="en-US" b="true" sz="3585">
                <a:solidFill>
                  <a:srgbClr val="272727"/>
                </a:solidFill>
                <a:latin typeface="Manjari Bold"/>
                <a:ea typeface="Manjari Bold"/>
                <a:cs typeface="Manjari Bold"/>
                <a:sym typeface="Manjari Bold"/>
              </a:rPr>
              <a:t>Dish Category Patt</a:t>
            </a:r>
            <a:r>
              <a:rPr lang="en-US" b="true" sz="3585">
                <a:solidFill>
                  <a:srgbClr val="272727"/>
                </a:solidFill>
                <a:latin typeface="Manjari Bold"/>
                <a:ea typeface="Manjari Bold"/>
                <a:cs typeface="Manjari Bold"/>
                <a:sym typeface="Manjari Bold"/>
              </a:rPr>
              <a:t>er</a:t>
            </a:r>
            <a:r>
              <a:rPr lang="en-US" b="true" sz="3585">
                <a:solidFill>
                  <a:srgbClr val="272727"/>
                </a:solidFill>
                <a:latin typeface="Manjari Bold"/>
                <a:ea typeface="Manjari Bold"/>
                <a:cs typeface="Manjari Bold"/>
                <a:sym typeface="Manjari Bold"/>
              </a:rPr>
              <a:t>ns</a:t>
            </a:r>
          </a:p>
          <a:p>
            <a:pPr algn="ctr">
              <a:lnSpc>
                <a:spcPts val="5019"/>
              </a:lnSpc>
            </a:pPr>
            <a:r>
              <a:rPr lang="en-US" sz="3585">
                <a:solidFill>
                  <a:srgbClr val="272727"/>
                </a:solidFill>
                <a:latin typeface="Manjari"/>
                <a:ea typeface="Manjari"/>
                <a:cs typeface="Manjari"/>
                <a:sym typeface="Manjari"/>
              </a:rPr>
              <a:t>Fish → Profit: r = 0.642</a:t>
            </a:r>
          </a:p>
          <a:p>
            <a:pPr algn="ctr">
              <a:lnSpc>
                <a:spcPts val="5019"/>
              </a:lnSpc>
            </a:pPr>
            <a:r>
              <a:rPr lang="en-US" sz="3585">
                <a:solidFill>
                  <a:srgbClr val="272727"/>
                </a:solidFill>
                <a:latin typeface="Manjari"/>
                <a:ea typeface="Manjari"/>
                <a:cs typeface="Manjari"/>
                <a:sym typeface="Manjari"/>
              </a:rPr>
              <a:t>Chicken → Profit: r = −0.433</a:t>
            </a:r>
          </a:p>
          <a:p>
            <a:pPr algn="ctr">
              <a:lnSpc>
                <a:spcPts val="5019"/>
              </a:lnSpc>
            </a:pPr>
            <a:r>
              <a:rPr lang="en-US" sz="3585">
                <a:solidFill>
                  <a:srgbClr val="272727"/>
                </a:solidFill>
                <a:latin typeface="Manjari"/>
                <a:ea typeface="Manjari"/>
                <a:cs typeface="Manjari"/>
                <a:sym typeface="Manjari"/>
              </a:rPr>
              <a:t>Chicken → Waste Rate: r = 0.464</a:t>
            </a:r>
          </a:p>
          <a:p>
            <a:pPr algn="ctr">
              <a:lnSpc>
                <a:spcPts val="5019"/>
              </a:lnSpc>
            </a:pP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822537" y="1749370"/>
            <a:ext cx="12642926" cy="1002325"/>
          </a:xfrm>
          <a:prstGeom prst="rect">
            <a:avLst/>
          </a:prstGeom>
        </p:spPr>
        <p:txBody>
          <a:bodyPr anchor="t" rtlCol="false" tIns="0" lIns="0" bIns="0" rIns="0">
            <a:spAutoFit/>
          </a:bodyPr>
          <a:lstStyle/>
          <a:p>
            <a:pPr algn="l">
              <a:lnSpc>
                <a:spcPts val="7550"/>
              </a:lnSpc>
            </a:pPr>
            <a:r>
              <a:rPr lang="en-US" sz="7056">
                <a:solidFill>
                  <a:srgbClr val="272727"/>
                </a:solidFill>
                <a:latin typeface="Questrial"/>
                <a:ea typeface="Questrial"/>
                <a:cs typeface="Questrial"/>
                <a:sym typeface="Questrial"/>
              </a:rPr>
              <a:t>Pearson Correlation Heatmap</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3283190" y="2947988"/>
            <a:ext cx="11721621" cy="1581150"/>
          </a:xfrm>
          <a:prstGeom prst="rect">
            <a:avLst/>
          </a:prstGeom>
        </p:spPr>
        <p:txBody>
          <a:bodyPr anchor="t" rtlCol="false" tIns="0" lIns="0" bIns="0" rIns="0">
            <a:spAutoFit/>
          </a:bodyPr>
          <a:lstStyle/>
          <a:p>
            <a:pPr algn="ctr">
              <a:lnSpc>
                <a:spcPts val="6299"/>
              </a:lnSpc>
              <a:spcBef>
                <a:spcPct val="0"/>
              </a:spcBef>
            </a:pPr>
            <a:r>
              <a:rPr lang="en-US" sz="4500">
                <a:solidFill>
                  <a:srgbClr val="CBCBCB"/>
                </a:solidFill>
                <a:latin typeface="Manjari"/>
                <a:ea typeface="Manjari"/>
                <a:cs typeface="Manjari"/>
                <a:sym typeface="Manjari"/>
              </a:rPr>
              <a:t>H₀: No linear correlation (r = 0)</a:t>
            </a:r>
          </a:p>
          <a:p>
            <a:pPr algn="ctr">
              <a:lnSpc>
                <a:spcPts val="6299"/>
              </a:lnSpc>
              <a:spcBef>
                <a:spcPct val="0"/>
              </a:spcBef>
            </a:pPr>
            <a:r>
              <a:rPr lang="en-US" sz="4500">
                <a:solidFill>
                  <a:srgbClr val="272727"/>
                </a:solidFill>
                <a:latin typeface="Manjari"/>
                <a:ea typeface="Manjari"/>
                <a:cs typeface="Manjari"/>
                <a:sym typeface="Manjari"/>
              </a:rPr>
              <a:t>H₁: Significant linear correlation (r ≠ 0)</a:t>
            </a:r>
          </a:p>
        </p:txBody>
      </p:sp>
      <p:sp>
        <p:nvSpPr>
          <p:cNvPr name="TextBox 20" id="20"/>
          <p:cNvSpPr txBox="true"/>
          <p:nvPr/>
        </p:nvSpPr>
        <p:spPr>
          <a:xfrm rot="0">
            <a:off x="3459169" y="5091112"/>
            <a:ext cx="11721621" cy="4804410"/>
          </a:xfrm>
          <a:prstGeom prst="rect">
            <a:avLst/>
          </a:prstGeom>
        </p:spPr>
        <p:txBody>
          <a:bodyPr anchor="t" rtlCol="false" tIns="0" lIns="0" bIns="0" rIns="0">
            <a:spAutoFit/>
          </a:bodyPr>
          <a:lstStyle/>
          <a:p>
            <a:pPr algn="ctr">
              <a:lnSpc>
                <a:spcPts val="6299"/>
              </a:lnSpc>
            </a:pPr>
            <a:r>
              <a:rPr lang="en-US" sz="4500">
                <a:solidFill>
                  <a:srgbClr val="272727"/>
                </a:solidFill>
                <a:latin typeface="Manjari"/>
                <a:ea typeface="Manjari"/>
                <a:cs typeface="Manjari"/>
                <a:sym typeface="Manjari"/>
              </a:rPr>
              <a:t>Mu</a:t>
            </a:r>
            <a:r>
              <a:rPr lang="en-US" sz="4500">
                <a:solidFill>
                  <a:srgbClr val="272727"/>
                </a:solidFill>
                <a:latin typeface="Manjari"/>
                <a:ea typeface="Manjari"/>
                <a:cs typeface="Manjari"/>
                <a:sym typeface="Manjari"/>
              </a:rPr>
              <a:t>ltiple significant correlations → </a:t>
            </a:r>
            <a:r>
              <a:rPr lang="en-US" b="true" sz="4500">
                <a:solidFill>
                  <a:srgbClr val="272727"/>
                </a:solidFill>
                <a:latin typeface="Manjari Bold"/>
                <a:ea typeface="Manjari Bold"/>
                <a:cs typeface="Manjari Bold"/>
                <a:sym typeface="Manjari Bold"/>
              </a:rPr>
              <a:t>Reject H₀</a:t>
            </a:r>
          </a:p>
          <a:p>
            <a:pPr algn="ctr">
              <a:lnSpc>
                <a:spcPts val="6299"/>
              </a:lnSpc>
            </a:pPr>
            <a:r>
              <a:rPr lang="en-US" sz="4500">
                <a:solidFill>
                  <a:srgbClr val="272727"/>
                </a:solidFill>
                <a:latin typeface="Manjari"/>
                <a:ea typeface="Manjari"/>
                <a:cs typeface="Manjari"/>
                <a:sym typeface="Manjari"/>
              </a:rPr>
              <a:t>Profitability depends on:</a:t>
            </a:r>
          </a:p>
          <a:p>
            <a:pPr algn="ctr">
              <a:lnSpc>
                <a:spcPts val="6299"/>
              </a:lnSpc>
            </a:pPr>
            <a:r>
              <a:rPr lang="en-US" sz="4500">
                <a:solidFill>
                  <a:srgbClr val="272727"/>
                </a:solidFill>
                <a:latin typeface="Manjari"/>
                <a:ea typeface="Manjari"/>
                <a:cs typeface="Manjari"/>
                <a:sym typeface="Manjari"/>
              </a:rPr>
              <a:t>Cost efficiency</a:t>
            </a:r>
          </a:p>
          <a:p>
            <a:pPr algn="ctr">
              <a:lnSpc>
                <a:spcPts val="6299"/>
              </a:lnSpc>
            </a:pPr>
            <a:r>
              <a:rPr lang="en-US" sz="4500">
                <a:solidFill>
                  <a:srgbClr val="272727"/>
                </a:solidFill>
                <a:latin typeface="Manjari"/>
                <a:ea typeface="Manjari"/>
                <a:cs typeface="Manjari"/>
                <a:sym typeface="Manjari"/>
              </a:rPr>
              <a:t>Waste control</a:t>
            </a:r>
          </a:p>
          <a:p>
            <a:pPr algn="ctr">
              <a:lnSpc>
                <a:spcPts val="6299"/>
              </a:lnSpc>
            </a:pPr>
            <a:r>
              <a:rPr lang="en-US" sz="4500">
                <a:solidFill>
                  <a:srgbClr val="272727"/>
                </a:solidFill>
                <a:latin typeface="Manjari"/>
                <a:ea typeface="Manjari"/>
                <a:cs typeface="Manjari"/>
                <a:sym typeface="Manjari"/>
              </a:rPr>
              <a:t>High-margin dish selection</a:t>
            </a:r>
          </a:p>
          <a:p>
            <a:pPr algn="ctr">
              <a:lnSpc>
                <a:spcPts val="629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3712486" y="1568144"/>
            <a:ext cx="11292324" cy="1002325"/>
          </a:xfrm>
          <a:prstGeom prst="rect">
            <a:avLst/>
          </a:prstGeom>
        </p:spPr>
        <p:txBody>
          <a:bodyPr anchor="t" rtlCol="false" tIns="0" lIns="0" bIns="0" rIns="0">
            <a:spAutoFit/>
          </a:bodyPr>
          <a:lstStyle/>
          <a:p>
            <a:pPr algn="l">
              <a:lnSpc>
                <a:spcPts val="7550"/>
              </a:lnSpc>
            </a:pPr>
            <a:r>
              <a:rPr lang="en-US" sz="7056">
                <a:solidFill>
                  <a:srgbClr val="272727"/>
                </a:solidFill>
                <a:latin typeface="Questrial"/>
                <a:ea typeface="Questrial"/>
                <a:cs typeface="Questrial"/>
                <a:sym typeface="Questrial"/>
              </a:rPr>
              <a:t>Profit vs Waste Relationship</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3459169" y="2713344"/>
            <a:ext cx="11721621" cy="1581150"/>
          </a:xfrm>
          <a:prstGeom prst="rect">
            <a:avLst/>
          </a:prstGeom>
        </p:spPr>
        <p:txBody>
          <a:bodyPr anchor="t" rtlCol="false" tIns="0" lIns="0" bIns="0" rIns="0">
            <a:spAutoFit/>
          </a:bodyPr>
          <a:lstStyle/>
          <a:p>
            <a:pPr algn="ctr">
              <a:lnSpc>
                <a:spcPts val="6299"/>
              </a:lnSpc>
              <a:spcBef>
                <a:spcPct val="0"/>
              </a:spcBef>
            </a:pPr>
            <a:r>
              <a:rPr lang="en-US" sz="4500">
                <a:solidFill>
                  <a:srgbClr val="CBCBCB"/>
                </a:solidFill>
                <a:latin typeface="Manjari"/>
                <a:ea typeface="Manjari"/>
                <a:cs typeface="Manjari"/>
                <a:sym typeface="Manjari"/>
              </a:rPr>
              <a:t>H₀: No linear correlation (r = 0)</a:t>
            </a:r>
          </a:p>
          <a:p>
            <a:pPr algn="ctr">
              <a:lnSpc>
                <a:spcPts val="6299"/>
              </a:lnSpc>
              <a:spcBef>
                <a:spcPct val="0"/>
              </a:spcBef>
            </a:pPr>
            <a:r>
              <a:rPr lang="en-US" sz="4500">
                <a:solidFill>
                  <a:srgbClr val="272727"/>
                </a:solidFill>
                <a:latin typeface="Manjari"/>
                <a:ea typeface="Manjari"/>
                <a:cs typeface="Manjari"/>
                <a:sym typeface="Manjari"/>
              </a:rPr>
              <a:t>H₁: Significant linear correlation (r ≠ 0)</a:t>
            </a:r>
          </a:p>
        </p:txBody>
      </p:sp>
      <p:sp>
        <p:nvSpPr>
          <p:cNvPr name="Freeform 20" id="20"/>
          <p:cNvSpPr/>
          <p:nvPr/>
        </p:nvSpPr>
        <p:spPr>
          <a:xfrm flipH="false" flipV="false" rot="0">
            <a:off x="5512469" y="4532619"/>
            <a:ext cx="7263062" cy="5486820"/>
          </a:xfrm>
          <a:custGeom>
            <a:avLst/>
            <a:gdLst/>
            <a:ahLst/>
            <a:cxnLst/>
            <a:rect r="r" b="b" t="t" l="l"/>
            <a:pathLst>
              <a:path h="5486820" w="7263062">
                <a:moveTo>
                  <a:pt x="0" y="0"/>
                </a:moveTo>
                <a:lnTo>
                  <a:pt x="7263062" y="0"/>
                </a:lnTo>
                <a:lnTo>
                  <a:pt x="7263062" y="5486820"/>
                </a:lnTo>
                <a:lnTo>
                  <a:pt x="0" y="5486820"/>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955283" y="1771100"/>
            <a:ext cx="14729394" cy="1954825"/>
          </a:xfrm>
          <a:prstGeom prst="rect">
            <a:avLst/>
          </a:prstGeom>
        </p:spPr>
        <p:txBody>
          <a:bodyPr anchor="t" rtlCol="false" tIns="0" lIns="0" bIns="0" rIns="0">
            <a:spAutoFit/>
          </a:bodyPr>
          <a:lstStyle/>
          <a:p>
            <a:pPr algn="ctr">
              <a:lnSpc>
                <a:spcPts val="7550"/>
              </a:lnSpc>
            </a:pPr>
            <a:r>
              <a:rPr lang="en-US" sz="7056">
                <a:solidFill>
                  <a:srgbClr val="272727"/>
                </a:solidFill>
                <a:latin typeface="Questrial"/>
                <a:ea typeface="Questrial"/>
                <a:cs typeface="Questrial"/>
                <a:sym typeface="Questrial"/>
              </a:rPr>
              <a:t>One-way ANOVA </a:t>
            </a:r>
          </a:p>
          <a:p>
            <a:pPr algn="just">
              <a:lnSpc>
                <a:spcPts val="7550"/>
              </a:lnSpc>
            </a:pPr>
            <a:r>
              <a:rPr lang="en-US" sz="7056">
                <a:solidFill>
                  <a:srgbClr val="272727"/>
                </a:solidFill>
                <a:latin typeface="Questrial"/>
                <a:ea typeface="Questrial"/>
                <a:cs typeface="Questrial"/>
                <a:sym typeface="Questrial"/>
              </a:rPr>
              <a:t>Profit Differences Across Categories</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3594229" y="4306950"/>
            <a:ext cx="11721621" cy="2381250"/>
          </a:xfrm>
          <a:prstGeom prst="rect">
            <a:avLst/>
          </a:prstGeom>
        </p:spPr>
        <p:txBody>
          <a:bodyPr anchor="t" rtlCol="false" tIns="0" lIns="0" bIns="0" rIns="0">
            <a:spAutoFit/>
          </a:bodyPr>
          <a:lstStyle/>
          <a:p>
            <a:pPr algn="ctr">
              <a:lnSpc>
                <a:spcPts val="6299"/>
              </a:lnSpc>
            </a:pPr>
            <a:r>
              <a:rPr lang="en-US" sz="4500">
                <a:solidFill>
                  <a:srgbClr val="272727"/>
                </a:solidFill>
                <a:latin typeface="Manjari"/>
                <a:ea typeface="Manjari"/>
                <a:cs typeface="Manjari"/>
                <a:sym typeface="Manjari"/>
              </a:rPr>
              <a:t>H₀: All category means are equal</a:t>
            </a:r>
          </a:p>
          <a:p>
            <a:pPr algn="ctr">
              <a:lnSpc>
                <a:spcPts val="6299"/>
              </a:lnSpc>
            </a:pPr>
            <a:r>
              <a:rPr lang="en-US" sz="4500">
                <a:solidFill>
                  <a:srgbClr val="272727"/>
                </a:solidFill>
                <a:latin typeface="Manjari"/>
                <a:ea typeface="Manjari"/>
                <a:cs typeface="Manjari"/>
                <a:sym typeface="Manjari"/>
              </a:rPr>
              <a:t>H₁: At least one category mean differs</a:t>
            </a:r>
          </a:p>
          <a:p>
            <a:pPr algn="ctr">
              <a:lnSpc>
                <a:spcPts val="629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955283" y="1771100"/>
            <a:ext cx="14729394" cy="1954825"/>
          </a:xfrm>
          <a:prstGeom prst="rect">
            <a:avLst/>
          </a:prstGeom>
        </p:spPr>
        <p:txBody>
          <a:bodyPr anchor="t" rtlCol="false" tIns="0" lIns="0" bIns="0" rIns="0">
            <a:spAutoFit/>
          </a:bodyPr>
          <a:lstStyle/>
          <a:p>
            <a:pPr algn="ctr">
              <a:lnSpc>
                <a:spcPts val="7550"/>
              </a:lnSpc>
            </a:pPr>
            <a:r>
              <a:rPr lang="en-US" sz="7056">
                <a:solidFill>
                  <a:srgbClr val="272727"/>
                </a:solidFill>
                <a:latin typeface="Questrial"/>
                <a:ea typeface="Questrial"/>
                <a:cs typeface="Questrial"/>
                <a:sym typeface="Questrial"/>
              </a:rPr>
              <a:t>One-way ANOVA </a:t>
            </a:r>
          </a:p>
          <a:p>
            <a:pPr algn="just">
              <a:lnSpc>
                <a:spcPts val="7550"/>
              </a:lnSpc>
            </a:pPr>
            <a:r>
              <a:rPr lang="en-US" sz="7056">
                <a:solidFill>
                  <a:srgbClr val="272727"/>
                </a:solidFill>
                <a:latin typeface="Questrial"/>
                <a:ea typeface="Questrial"/>
                <a:cs typeface="Questrial"/>
                <a:sym typeface="Questrial"/>
              </a:rPr>
              <a:t>Profit Differences Across Categories</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Freeform 19" id="19"/>
          <p:cNvSpPr/>
          <p:nvPr/>
        </p:nvSpPr>
        <p:spPr>
          <a:xfrm flipH="false" flipV="false" rot="0">
            <a:off x="4712215" y="3884278"/>
            <a:ext cx="9215528" cy="6203045"/>
          </a:xfrm>
          <a:custGeom>
            <a:avLst/>
            <a:gdLst/>
            <a:ahLst/>
            <a:cxnLst/>
            <a:rect r="r" b="b" t="t" l="l"/>
            <a:pathLst>
              <a:path h="6203045" w="9215528">
                <a:moveTo>
                  <a:pt x="0" y="0"/>
                </a:moveTo>
                <a:lnTo>
                  <a:pt x="9215529" y="0"/>
                </a:lnTo>
                <a:lnTo>
                  <a:pt x="9215529" y="6203044"/>
                </a:lnTo>
                <a:lnTo>
                  <a:pt x="0" y="6203044"/>
                </a:lnTo>
                <a:lnTo>
                  <a:pt x="0" y="0"/>
                </a:lnTo>
                <a:close/>
              </a:path>
            </a:pathLst>
          </a:custGeom>
          <a:blipFill>
            <a:blip r:embed="rId2"/>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955283" y="1771100"/>
            <a:ext cx="14729394" cy="1954825"/>
          </a:xfrm>
          <a:prstGeom prst="rect">
            <a:avLst/>
          </a:prstGeom>
        </p:spPr>
        <p:txBody>
          <a:bodyPr anchor="t" rtlCol="false" tIns="0" lIns="0" bIns="0" rIns="0">
            <a:spAutoFit/>
          </a:bodyPr>
          <a:lstStyle/>
          <a:p>
            <a:pPr algn="ctr">
              <a:lnSpc>
                <a:spcPts val="7550"/>
              </a:lnSpc>
            </a:pPr>
            <a:r>
              <a:rPr lang="en-US" sz="7056">
                <a:solidFill>
                  <a:srgbClr val="272727"/>
                </a:solidFill>
                <a:latin typeface="Questrial"/>
                <a:ea typeface="Questrial"/>
                <a:cs typeface="Questrial"/>
                <a:sym typeface="Questrial"/>
              </a:rPr>
              <a:t>One-way ANOVA </a:t>
            </a:r>
          </a:p>
          <a:p>
            <a:pPr algn="just">
              <a:lnSpc>
                <a:spcPts val="7550"/>
              </a:lnSpc>
            </a:pPr>
            <a:r>
              <a:rPr lang="en-US" sz="7056">
                <a:solidFill>
                  <a:srgbClr val="272727"/>
                </a:solidFill>
                <a:latin typeface="Questrial"/>
                <a:ea typeface="Questrial"/>
                <a:cs typeface="Questrial"/>
                <a:sym typeface="Questrial"/>
              </a:rPr>
              <a:t>Profit Differences Across Categories</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3594229" y="4306950"/>
            <a:ext cx="11721621" cy="2381250"/>
          </a:xfrm>
          <a:prstGeom prst="rect">
            <a:avLst/>
          </a:prstGeom>
        </p:spPr>
        <p:txBody>
          <a:bodyPr anchor="t" rtlCol="false" tIns="0" lIns="0" bIns="0" rIns="0">
            <a:spAutoFit/>
          </a:bodyPr>
          <a:lstStyle/>
          <a:p>
            <a:pPr algn="ctr">
              <a:lnSpc>
                <a:spcPts val="6299"/>
              </a:lnSpc>
            </a:pPr>
            <a:r>
              <a:rPr lang="en-US" sz="4500">
                <a:solidFill>
                  <a:srgbClr val="CBCBCB"/>
                </a:solidFill>
                <a:latin typeface="Manjari"/>
                <a:ea typeface="Manjari"/>
                <a:cs typeface="Manjari"/>
                <a:sym typeface="Manjari"/>
              </a:rPr>
              <a:t>H₀: All category means are equal</a:t>
            </a:r>
          </a:p>
          <a:p>
            <a:pPr algn="ctr">
              <a:lnSpc>
                <a:spcPts val="6299"/>
              </a:lnSpc>
            </a:pPr>
            <a:r>
              <a:rPr lang="en-US" sz="4500">
                <a:solidFill>
                  <a:srgbClr val="272727"/>
                </a:solidFill>
                <a:latin typeface="Manjari"/>
                <a:ea typeface="Manjari"/>
                <a:cs typeface="Manjari"/>
                <a:sym typeface="Manjari"/>
              </a:rPr>
              <a:t>H₁: At least one category mean differs</a:t>
            </a:r>
          </a:p>
          <a:p>
            <a:pPr algn="ctr">
              <a:lnSpc>
                <a:spcPts val="6299"/>
              </a:lnSpc>
            </a:pPr>
          </a:p>
        </p:txBody>
      </p:sp>
      <p:sp>
        <p:nvSpPr>
          <p:cNvPr name="TextBox 20" id="20"/>
          <p:cNvSpPr txBox="true"/>
          <p:nvPr/>
        </p:nvSpPr>
        <p:spPr>
          <a:xfrm rot="0">
            <a:off x="3130319" y="6062234"/>
            <a:ext cx="12649442" cy="4421505"/>
          </a:xfrm>
          <a:prstGeom prst="rect">
            <a:avLst/>
          </a:prstGeom>
        </p:spPr>
        <p:txBody>
          <a:bodyPr anchor="t" rtlCol="false" tIns="0" lIns="0" bIns="0" rIns="0">
            <a:spAutoFit/>
          </a:bodyPr>
          <a:lstStyle/>
          <a:p>
            <a:pPr algn="ctr">
              <a:lnSpc>
                <a:spcPts val="5880"/>
              </a:lnSpc>
            </a:pPr>
            <a:r>
              <a:rPr lang="en-US" sz="4200">
                <a:solidFill>
                  <a:srgbClr val="272727"/>
                </a:solidFill>
                <a:latin typeface="Manjari"/>
                <a:ea typeface="Manjari"/>
                <a:cs typeface="Manjari"/>
                <a:sym typeface="Manjari"/>
              </a:rPr>
              <a:t>R</a:t>
            </a:r>
            <a:r>
              <a:rPr lang="en-US" sz="4200">
                <a:solidFill>
                  <a:srgbClr val="272727"/>
                </a:solidFill>
                <a:latin typeface="Manjari"/>
                <a:ea typeface="Manjari"/>
                <a:cs typeface="Manjari"/>
                <a:sym typeface="Manjari"/>
              </a:rPr>
              <a:t>esults</a:t>
            </a:r>
          </a:p>
          <a:p>
            <a:pPr algn="ctr">
              <a:lnSpc>
                <a:spcPts val="5880"/>
              </a:lnSpc>
            </a:pPr>
            <a:r>
              <a:rPr lang="en-US" sz="4200">
                <a:solidFill>
                  <a:srgbClr val="272727"/>
                </a:solidFill>
                <a:latin typeface="Manjari"/>
                <a:ea typeface="Manjari"/>
                <a:cs typeface="Manjari"/>
                <a:sym typeface="Manjari"/>
              </a:rPr>
              <a:t>F = 57.27</a:t>
            </a:r>
          </a:p>
          <a:p>
            <a:pPr algn="ctr">
              <a:lnSpc>
                <a:spcPts val="5880"/>
              </a:lnSpc>
            </a:pPr>
            <a:r>
              <a:rPr lang="en-US" sz="4200">
                <a:solidFill>
                  <a:srgbClr val="272727"/>
                </a:solidFill>
                <a:latin typeface="Manjari"/>
                <a:ea typeface="Manjari"/>
                <a:cs typeface="Manjari"/>
                <a:sym typeface="Manjari"/>
              </a:rPr>
              <a:t>p &lt; 0.001</a:t>
            </a:r>
          </a:p>
          <a:p>
            <a:pPr algn="ctr">
              <a:lnSpc>
                <a:spcPts val="5740"/>
              </a:lnSpc>
            </a:pPr>
            <a:r>
              <a:rPr lang="en-US" sz="4100">
                <a:solidFill>
                  <a:srgbClr val="272727"/>
                </a:solidFill>
                <a:latin typeface="Manjari"/>
                <a:ea typeface="Manjari"/>
                <a:cs typeface="Manjari"/>
                <a:sym typeface="Manjari"/>
              </a:rPr>
              <a:t> Reject H₀ → Mean profits significantly differ across categories.</a:t>
            </a:r>
          </a:p>
          <a:p>
            <a:pPr algn="r">
              <a:lnSpc>
                <a:spcPts val="5880"/>
              </a:lnSpc>
            </a:pP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955283" y="1771100"/>
            <a:ext cx="14729394" cy="1954825"/>
          </a:xfrm>
          <a:prstGeom prst="rect">
            <a:avLst/>
          </a:prstGeom>
        </p:spPr>
        <p:txBody>
          <a:bodyPr anchor="t" rtlCol="false" tIns="0" lIns="0" bIns="0" rIns="0">
            <a:spAutoFit/>
          </a:bodyPr>
          <a:lstStyle/>
          <a:p>
            <a:pPr algn="ctr">
              <a:lnSpc>
                <a:spcPts val="7550"/>
              </a:lnSpc>
            </a:pPr>
            <a:r>
              <a:rPr lang="en-US" sz="7056">
                <a:solidFill>
                  <a:srgbClr val="272727"/>
                </a:solidFill>
                <a:latin typeface="Questrial"/>
                <a:ea typeface="Questrial"/>
                <a:cs typeface="Questrial"/>
                <a:sym typeface="Questrial"/>
              </a:rPr>
              <a:t>One-way ANOVA </a:t>
            </a:r>
          </a:p>
          <a:p>
            <a:pPr algn="just">
              <a:lnSpc>
                <a:spcPts val="7550"/>
              </a:lnSpc>
            </a:pPr>
            <a:r>
              <a:rPr lang="en-US" sz="7056">
                <a:solidFill>
                  <a:srgbClr val="272727"/>
                </a:solidFill>
                <a:latin typeface="Questrial"/>
                <a:ea typeface="Questrial"/>
                <a:cs typeface="Questrial"/>
                <a:sym typeface="Questrial"/>
              </a:rPr>
              <a:t>Profit Differences Across Categories</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3418250" y="3753486"/>
            <a:ext cx="11451500" cy="7122159"/>
          </a:xfrm>
          <a:prstGeom prst="rect">
            <a:avLst/>
          </a:prstGeom>
        </p:spPr>
        <p:txBody>
          <a:bodyPr anchor="t" rtlCol="false" tIns="0" lIns="0" bIns="0" rIns="0">
            <a:spAutoFit/>
          </a:bodyPr>
          <a:lstStyle/>
          <a:p>
            <a:pPr algn="ctr">
              <a:lnSpc>
                <a:spcPts val="4340"/>
              </a:lnSpc>
            </a:pPr>
            <a:r>
              <a:rPr lang="en-US" b="true" sz="3100">
                <a:solidFill>
                  <a:srgbClr val="272727"/>
                </a:solidFill>
                <a:latin typeface="Manjari Bold"/>
                <a:ea typeface="Manjari Bold"/>
                <a:cs typeface="Manjari Bold"/>
                <a:sym typeface="Manjari Bold"/>
              </a:rPr>
              <a:t>Profit Ranking (High</a:t>
            </a:r>
            <a:r>
              <a:rPr lang="en-US" b="true" sz="3100">
                <a:solidFill>
                  <a:srgbClr val="272727"/>
                </a:solidFill>
                <a:latin typeface="Manjari Bold"/>
                <a:ea typeface="Manjari Bold"/>
                <a:cs typeface="Manjari Bold"/>
                <a:sym typeface="Manjari Bold"/>
              </a:rPr>
              <a:t>est to Lowest)</a:t>
            </a:r>
          </a:p>
          <a:p>
            <a:pPr algn="ctr">
              <a:lnSpc>
                <a:spcPts val="4340"/>
              </a:lnSpc>
            </a:pPr>
            <a:r>
              <a:rPr lang="en-US" sz="3100">
                <a:solidFill>
                  <a:srgbClr val="272727"/>
                </a:solidFill>
                <a:latin typeface="Manjari"/>
                <a:ea typeface="Manjari"/>
                <a:cs typeface="Manjari"/>
                <a:sym typeface="Manjari"/>
              </a:rPr>
              <a:t>Fish → Highest average profit</a:t>
            </a:r>
          </a:p>
          <a:p>
            <a:pPr algn="ctr">
              <a:lnSpc>
                <a:spcPts val="4340"/>
              </a:lnSpc>
            </a:pPr>
            <a:r>
              <a:rPr lang="en-US" sz="3100">
                <a:solidFill>
                  <a:srgbClr val="272727"/>
                </a:solidFill>
                <a:latin typeface="Manjari"/>
                <a:ea typeface="Manjari"/>
                <a:cs typeface="Manjari"/>
                <a:sym typeface="Manjari"/>
              </a:rPr>
              <a:t>Vegetable &amp; Soup → Strong, stable returns</a:t>
            </a:r>
          </a:p>
          <a:p>
            <a:pPr algn="ctr">
              <a:lnSpc>
                <a:spcPts val="4340"/>
              </a:lnSpc>
            </a:pPr>
            <a:r>
              <a:rPr lang="en-US" sz="3100">
                <a:solidFill>
                  <a:srgbClr val="272727"/>
                </a:solidFill>
                <a:latin typeface="Manjari"/>
                <a:ea typeface="Manjari"/>
                <a:cs typeface="Manjari"/>
                <a:sym typeface="Manjari"/>
              </a:rPr>
              <a:t>Pork</a:t>
            </a:r>
            <a:r>
              <a:rPr lang="en-US" sz="3100">
                <a:solidFill>
                  <a:srgbClr val="272727"/>
                </a:solidFill>
                <a:latin typeface="Manjari"/>
                <a:ea typeface="Manjari"/>
                <a:cs typeface="Manjari"/>
                <a:sym typeface="Manjari"/>
              </a:rPr>
              <a:t> → Moderate profitability</a:t>
            </a:r>
          </a:p>
          <a:p>
            <a:pPr algn="ctr">
              <a:lnSpc>
                <a:spcPts val="4340"/>
              </a:lnSpc>
            </a:pPr>
            <a:r>
              <a:rPr lang="en-US" sz="3100">
                <a:solidFill>
                  <a:srgbClr val="272727"/>
                </a:solidFill>
                <a:latin typeface="Manjari"/>
                <a:ea typeface="Manjari"/>
                <a:cs typeface="Manjari"/>
                <a:sym typeface="Manjari"/>
              </a:rPr>
              <a:t>Chicken → Lowest mean profit; occasional negative returns</a:t>
            </a:r>
          </a:p>
          <a:p>
            <a:pPr algn="ctr">
              <a:lnSpc>
                <a:spcPts val="4340"/>
              </a:lnSpc>
            </a:pPr>
          </a:p>
          <a:p>
            <a:pPr algn="ctr">
              <a:lnSpc>
                <a:spcPts val="4340"/>
              </a:lnSpc>
            </a:pPr>
            <a:r>
              <a:rPr lang="en-US" sz="3100">
                <a:solidFill>
                  <a:srgbClr val="272727"/>
                </a:solidFill>
                <a:latin typeface="Manjari"/>
                <a:ea typeface="Manjari"/>
                <a:cs typeface="Manjari"/>
                <a:sym typeface="Manjari"/>
              </a:rPr>
              <a:t>I</a:t>
            </a:r>
            <a:r>
              <a:rPr lang="en-US" b="true" sz="3100">
                <a:solidFill>
                  <a:srgbClr val="272727"/>
                </a:solidFill>
                <a:latin typeface="Manjari Bold"/>
                <a:ea typeface="Manjari Bold"/>
                <a:cs typeface="Manjari Bold"/>
                <a:sym typeface="Manjari Bold"/>
              </a:rPr>
              <a:t>nterpretation</a:t>
            </a:r>
          </a:p>
          <a:p>
            <a:pPr algn="ctr">
              <a:lnSpc>
                <a:spcPts val="4340"/>
              </a:lnSpc>
            </a:pPr>
            <a:r>
              <a:rPr lang="en-US" sz="3100">
                <a:solidFill>
                  <a:srgbClr val="272727"/>
                </a:solidFill>
                <a:latin typeface="Manjari"/>
                <a:ea typeface="Manjari"/>
                <a:cs typeface="Manjari"/>
                <a:sym typeface="Manjari"/>
              </a:rPr>
              <a:t>Profitability strongly influenced by dish category</a:t>
            </a:r>
          </a:p>
          <a:p>
            <a:pPr algn="ctr">
              <a:lnSpc>
                <a:spcPts val="4340"/>
              </a:lnSpc>
            </a:pPr>
            <a:r>
              <a:rPr lang="en-US" b="true" sz="3100">
                <a:solidFill>
                  <a:srgbClr val="272727"/>
                </a:solidFill>
                <a:latin typeface="Manjari Bold"/>
                <a:ea typeface="Manjari Bold"/>
                <a:cs typeface="Manjari Bold"/>
                <a:sym typeface="Manjari Bold"/>
              </a:rPr>
              <a:t>Differences likely driven by:</a:t>
            </a:r>
          </a:p>
          <a:p>
            <a:pPr algn="ctr">
              <a:lnSpc>
                <a:spcPts val="4340"/>
              </a:lnSpc>
            </a:pPr>
            <a:r>
              <a:rPr lang="en-US" sz="3100">
                <a:solidFill>
                  <a:srgbClr val="272727"/>
                </a:solidFill>
                <a:latin typeface="Manjari"/>
                <a:ea typeface="Manjari"/>
                <a:cs typeface="Manjari"/>
                <a:sym typeface="Manjari"/>
              </a:rPr>
              <a:t>Ingredient cost structure</a:t>
            </a:r>
          </a:p>
          <a:p>
            <a:pPr algn="ctr">
              <a:lnSpc>
                <a:spcPts val="4340"/>
              </a:lnSpc>
            </a:pPr>
            <a:r>
              <a:rPr lang="en-US" sz="3100">
                <a:solidFill>
                  <a:srgbClr val="272727"/>
                </a:solidFill>
                <a:latin typeface="Manjari"/>
                <a:ea typeface="Manjari"/>
                <a:cs typeface="Manjari"/>
                <a:sym typeface="Manjari"/>
              </a:rPr>
              <a:t>Demand stability</a:t>
            </a:r>
          </a:p>
          <a:p>
            <a:pPr algn="ctr">
              <a:lnSpc>
                <a:spcPts val="4340"/>
              </a:lnSpc>
            </a:pPr>
            <a:r>
              <a:rPr lang="en-US" sz="3100">
                <a:solidFill>
                  <a:srgbClr val="272727"/>
                </a:solidFill>
                <a:latin typeface="Manjari"/>
                <a:ea typeface="Manjari"/>
                <a:cs typeface="Manjari"/>
                <a:sym typeface="Manjari"/>
              </a:rPr>
              <a:t>Waste sensitivity</a:t>
            </a:r>
          </a:p>
          <a:p>
            <a:pPr algn="ctr">
              <a:lnSpc>
                <a:spcPts val="4340"/>
              </a:lnSpc>
            </a:pP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714843"/>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60918" y="714843"/>
            <a:ext cx="1071507" cy="313857"/>
            <a:chOff x="0" y="0"/>
            <a:chExt cx="282208" cy="82662"/>
          </a:xfrm>
        </p:grpSpPr>
        <p:sp>
          <p:nvSpPr>
            <p:cNvPr name="Freeform 6" id="6"/>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7" id="7"/>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45036" y="714843"/>
            <a:ext cx="1071507" cy="313857"/>
            <a:chOff x="0" y="0"/>
            <a:chExt cx="282208" cy="82662"/>
          </a:xfrm>
        </p:grpSpPr>
        <p:sp>
          <p:nvSpPr>
            <p:cNvPr name="Freeform 9" id="9"/>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0" id="10"/>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929155" y="714843"/>
            <a:ext cx="1330145" cy="313857"/>
            <a:chOff x="0" y="0"/>
            <a:chExt cx="350326" cy="82662"/>
          </a:xfrm>
        </p:grpSpPr>
        <p:sp>
          <p:nvSpPr>
            <p:cNvPr name="Freeform 12" id="12"/>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955283" y="1771100"/>
            <a:ext cx="14729394" cy="1002325"/>
          </a:xfrm>
          <a:prstGeom prst="rect">
            <a:avLst/>
          </a:prstGeom>
        </p:spPr>
        <p:txBody>
          <a:bodyPr anchor="t" rtlCol="false" tIns="0" lIns="0" bIns="0" rIns="0">
            <a:spAutoFit/>
          </a:bodyPr>
          <a:lstStyle/>
          <a:p>
            <a:pPr algn="ctr">
              <a:lnSpc>
                <a:spcPts val="7550"/>
              </a:lnSpc>
            </a:pPr>
            <a:r>
              <a:rPr lang="en-US" sz="7056">
                <a:solidFill>
                  <a:srgbClr val="272727"/>
                </a:solidFill>
                <a:latin typeface="Questrial"/>
                <a:ea typeface="Questrial"/>
                <a:cs typeface="Questrial"/>
                <a:sym typeface="Questrial"/>
              </a:rPr>
              <a:t>Synthesis of Findings</a:t>
            </a:r>
          </a:p>
        </p:txBody>
      </p:sp>
      <p:sp>
        <p:nvSpPr>
          <p:cNvPr name="TextBox 15" id="15"/>
          <p:cNvSpPr txBox="true"/>
          <p:nvPr/>
        </p:nvSpPr>
        <p:spPr>
          <a:xfrm rot="0">
            <a:off x="1062601" y="745490"/>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sp>
        <p:nvSpPr>
          <p:cNvPr name="TextBox 16" id="16"/>
          <p:cNvSpPr txBox="true"/>
          <p:nvPr/>
        </p:nvSpPr>
        <p:spPr>
          <a:xfrm rot="0">
            <a:off x="13474261"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sp>
        <p:nvSpPr>
          <p:cNvPr name="TextBox 17" id="17"/>
          <p:cNvSpPr txBox="true"/>
          <p:nvPr/>
        </p:nvSpPr>
        <p:spPr>
          <a:xfrm rot="0">
            <a:off x="14758379" y="745490"/>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sp>
        <p:nvSpPr>
          <p:cNvPr name="TextBox 18" id="18"/>
          <p:cNvSpPr txBox="true"/>
          <p:nvPr/>
        </p:nvSpPr>
        <p:spPr>
          <a:xfrm rot="0">
            <a:off x="15932631" y="745490"/>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9" id="19"/>
          <p:cNvSpPr txBox="true"/>
          <p:nvPr/>
        </p:nvSpPr>
        <p:spPr>
          <a:xfrm rot="0">
            <a:off x="0" y="2706750"/>
            <a:ext cx="18288000" cy="7440295"/>
          </a:xfrm>
          <a:prstGeom prst="rect">
            <a:avLst/>
          </a:prstGeom>
        </p:spPr>
        <p:txBody>
          <a:bodyPr anchor="t" rtlCol="false" tIns="0" lIns="0" bIns="0" rIns="0">
            <a:spAutoFit/>
          </a:bodyPr>
          <a:lstStyle/>
          <a:p>
            <a:pPr algn="l">
              <a:lnSpc>
                <a:spcPts val="3920"/>
              </a:lnSpc>
            </a:pPr>
          </a:p>
          <a:p>
            <a:pPr algn="l" marL="604521" indent="-302261" lvl="1">
              <a:lnSpc>
                <a:spcPts val="3920"/>
              </a:lnSpc>
              <a:buFont typeface="Arial"/>
              <a:buChar char="•"/>
            </a:pPr>
            <a:r>
              <a:rPr lang="en-US" sz="2800">
                <a:solidFill>
                  <a:srgbClr val="272727"/>
                </a:solidFill>
                <a:latin typeface="Manjari"/>
                <a:ea typeface="Manjari"/>
                <a:cs typeface="Manjari"/>
                <a:sym typeface="Manjari"/>
              </a:rPr>
              <a:t>Profitability is unevenly distributed and driven by high-margin categories.</a:t>
            </a:r>
          </a:p>
          <a:p>
            <a:pPr algn="l" marL="604521" indent="-302261" lvl="1">
              <a:lnSpc>
                <a:spcPts val="3920"/>
              </a:lnSpc>
              <a:buFont typeface="Arial"/>
              <a:buChar char="•"/>
            </a:pPr>
            <a:r>
              <a:rPr lang="en-US" sz="2800">
                <a:solidFill>
                  <a:srgbClr val="272727"/>
                </a:solidFill>
                <a:latin typeface="Manjari"/>
                <a:ea typeface="Manjari"/>
                <a:cs typeface="Manjari"/>
                <a:sym typeface="Manjari"/>
              </a:rPr>
              <a:t>Chicken dishes → </a:t>
            </a:r>
            <a:r>
              <a:rPr lang="en-US" sz="2800">
                <a:solidFill>
                  <a:srgbClr val="272727"/>
                </a:solidFill>
                <a:latin typeface="Manjari"/>
                <a:ea typeface="Manjari"/>
                <a:cs typeface="Manjari"/>
                <a:sym typeface="Manjari"/>
              </a:rPr>
              <a:t>Highest waste (~15%) and lowest mean profit.</a:t>
            </a:r>
          </a:p>
          <a:p>
            <a:pPr algn="l" marL="604521" indent="-302261" lvl="1">
              <a:lnSpc>
                <a:spcPts val="3920"/>
              </a:lnSpc>
              <a:buFont typeface="Arial"/>
              <a:buChar char="•"/>
            </a:pPr>
            <a:r>
              <a:rPr lang="en-US" sz="2800">
                <a:solidFill>
                  <a:srgbClr val="272727"/>
                </a:solidFill>
                <a:latin typeface="Manjari"/>
                <a:ea typeface="Manjari"/>
                <a:cs typeface="Manjari"/>
                <a:sym typeface="Manjari"/>
              </a:rPr>
              <a:t>Soup dishes → 0% waste, stable and predictable demand.</a:t>
            </a:r>
          </a:p>
          <a:p>
            <a:pPr algn="l" marL="604521" indent="-302261" lvl="1">
              <a:lnSpc>
                <a:spcPts val="3920"/>
              </a:lnSpc>
              <a:buFont typeface="Arial"/>
              <a:buChar char="•"/>
            </a:pPr>
            <a:r>
              <a:rPr lang="en-US" sz="2800">
                <a:solidFill>
                  <a:srgbClr val="272727"/>
                </a:solidFill>
                <a:latin typeface="Manjari"/>
                <a:ea typeface="Manjari"/>
                <a:cs typeface="Manjari"/>
                <a:sym typeface="Manjari"/>
              </a:rPr>
              <a:t>Category differences are statistically significant (ANOVA: F = 57.27, p &lt; 0.001).</a:t>
            </a:r>
          </a:p>
          <a:p>
            <a:pPr algn="l" marL="604521" indent="-302261" lvl="1">
              <a:lnSpc>
                <a:spcPts val="3920"/>
              </a:lnSpc>
              <a:buFont typeface="Arial"/>
              <a:buChar char="•"/>
            </a:pPr>
            <a:r>
              <a:rPr lang="en-US" sz="2800">
                <a:solidFill>
                  <a:srgbClr val="272727"/>
                </a:solidFill>
                <a:latin typeface="Manjari"/>
                <a:ea typeface="Manjari"/>
                <a:cs typeface="Manjari"/>
                <a:sym typeface="Manjari"/>
              </a:rPr>
              <a:t>Pearson correlation confirms key drivers:</a:t>
            </a:r>
          </a:p>
          <a:p>
            <a:pPr algn="l" marL="1209042" indent="-403014" lvl="2">
              <a:lnSpc>
                <a:spcPts val="3920"/>
              </a:lnSpc>
              <a:buFont typeface="Arial"/>
              <a:buChar char="⚬"/>
            </a:pPr>
            <a:r>
              <a:rPr lang="en-US" sz="2800">
                <a:solidFill>
                  <a:srgbClr val="272727"/>
                </a:solidFill>
                <a:latin typeface="Manjari"/>
                <a:ea typeface="Manjari"/>
                <a:cs typeface="Manjari"/>
                <a:sym typeface="Manjari"/>
              </a:rPr>
              <a:t>Profit &amp; Margin → r = 0.947</a:t>
            </a:r>
          </a:p>
          <a:p>
            <a:pPr algn="l" marL="1209042" indent="-403014" lvl="2">
              <a:lnSpc>
                <a:spcPts val="3920"/>
              </a:lnSpc>
              <a:buFont typeface="Arial"/>
              <a:buChar char="⚬"/>
            </a:pPr>
            <a:r>
              <a:rPr lang="en-US" sz="2800">
                <a:solidFill>
                  <a:srgbClr val="272727"/>
                </a:solidFill>
                <a:latin typeface="Manjari"/>
                <a:ea typeface="Manjari"/>
                <a:cs typeface="Manjari"/>
                <a:sym typeface="Manjari"/>
              </a:rPr>
              <a:t>Profit &amp; Cost Ratio → r = −0.947</a:t>
            </a:r>
          </a:p>
          <a:p>
            <a:pPr algn="l" marL="1209042" indent="-403014" lvl="2">
              <a:lnSpc>
                <a:spcPts val="3920"/>
              </a:lnSpc>
              <a:buFont typeface="Arial"/>
              <a:buChar char="⚬"/>
            </a:pPr>
            <a:r>
              <a:rPr lang="en-US" sz="2800">
                <a:solidFill>
                  <a:srgbClr val="272727"/>
                </a:solidFill>
                <a:latin typeface="Manjari"/>
                <a:ea typeface="Manjari"/>
                <a:cs typeface="Manjari"/>
                <a:sym typeface="Manjari"/>
              </a:rPr>
              <a:t>Profit &amp; Waste Rate → r = −0.337</a:t>
            </a:r>
          </a:p>
          <a:p>
            <a:pPr algn="l" marL="604521" indent="-302261" lvl="1">
              <a:lnSpc>
                <a:spcPts val="3920"/>
              </a:lnSpc>
              <a:buFont typeface="Arial"/>
              <a:buChar char="•"/>
            </a:pPr>
            <a:r>
              <a:rPr lang="en-US" sz="2800">
                <a:solidFill>
                  <a:srgbClr val="272727"/>
                </a:solidFill>
                <a:latin typeface="Manjari"/>
                <a:ea typeface="Manjari"/>
                <a:cs typeface="Manjari"/>
                <a:sym typeface="Manjari"/>
              </a:rPr>
              <a:t>Overall Implication</a:t>
            </a:r>
          </a:p>
          <a:p>
            <a:pPr algn="l" marL="604521" indent="-302261" lvl="1">
              <a:lnSpc>
                <a:spcPts val="3920"/>
              </a:lnSpc>
              <a:buFont typeface="Arial"/>
              <a:buChar char="•"/>
            </a:pPr>
            <a:r>
              <a:rPr lang="en-US" sz="2800">
                <a:solidFill>
                  <a:srgbClr val="272727"/>
                </a:solidFill>
                <a:latin typeface="Manjari"/>
                <a:ea typeface="Manjari"/>
                <a:cs typeface="Manjari"/>
                <a:sym typeface="Manjari"/>
              </a:rPr>
              <a:t>Repeating menu systems generate measurable financial patterns.</a:t>
            </a:r>
          </a:p>
          <a:p>
            <a:pPr algn="l" marL="604521" indent="-302261" lvl="1">
              <a:lnSpc>
                <a:spcPts val="3920"/>
              </a:lnSpc>
              <a:buFont typeface="Arial"/>
              <a:buChar char="•"/>
            </a:pPr>
            <a:r>
              <a:rPr lang="en-US" sz="2800">
                <a:solidFill>
                  <a:srgbClr val="272727"/>
                </a:solidFill>
                <a:latin typeface="Manjari"/>
                <a:ea typeface="Manjari"/>
                <a:cs typeface="Manjari"/>
                <a:sym typeface="Manjari"/>
              </a:rPr>
              <a:t>Strategic optimization:</a:t>
            </a:r>
          </a:p>
          <a:p>
            <a:pPr algn="l" marL="1209042" indent="-403014" lvl="2">
              <a:lnSpc>
                <a:spcPts val="3920"/>
              </a:lnSpc>
              <a:buFont typeface="Arial"/>
              <a:buChar char="⚬"/>
            </a:pPr>
            <a:r>
              <a:rPr lang="en-US" sz="2800">
                <a:solidFill>
                  <a:srgbClr val="272727"/>
                </a:solidFill>
                <a:latin typeface="Manjari"/>
                <a:ea typeface="Manjari"/>
                <a:cs typeface="Manjari"/>
                <a:sym typeface="Manjari"/>
              </a:rPr>
              <a:t>Prioritize Fish &amp; Vegetable categories</a:t>
            </a:r>
          </a:p>
          <a:p>
            <a:pPr algn="l" marL="1209042" indent="-403014" lvl="2">
              <a:lnSpc>
                <a:spcPts val="3920"/>
              </a:lnSpc>
              <a:buFont typeface="Arial"/>
              <a:buChar char="⚬"/>
            </a:pPr>
            <a:r>
              <a:rPr lang="en-US" sz="2800">
                <a:solidFill>
                  <a:srgbClr val="272727"/>
                </a:solidFill>
                <a:latin typeface="Manjari"/>
                <a:ea typeface="Manjari"/>
                <a:cs typeface="Manjari"/>
                <a:sym typeface="Manjari"/>
              </a:rPr>
              <a:t>Control high-waste, low-margin items (Chicken)</a:t>
            </a:r>
          </a:p>
          <a:p>
            <a:pPr algn="l" marL="1209042" indent="-403014" lvl="2">
              <a:lnSpc>
                <a:spcPts val="3920"/>
              </a:lnSpc>
              <a:buFont typeface="Arial"/>
              <a:buChar char="⚬"/>
            </a:pPr>
            <a:r>
              <a:rPr lang="en-US" sz="2800">
                <a:solidFill>
                  <a:srgbClr val="272727"/>
                </a:solidFill>
                <a:latin typeface="Manjari"/>
                <a:ea typeface="Manjari"/>
                <a:cs typeface="Manjari"/>
                <a:sym typeface="Manjari"/>
              </a:rPr>
              <a:t>Maintain stable performers (Soup)</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4537729"/>
            <a:ext cx="16230600" cy="1516341"/>
          </a:xfrm>
          <a:prstGeom prst="rect">
            <a:avLst/>
          </a:prstGeom>
        </p:spPr>
        <p:txBody>
          <a:bodyPr anchor="t" rtlCol="false" tIns="0" lIns="0" bIns="0" rIns="0">
            <a:spAutoFit/>
          </a:bodyPr>
          <a:lstStyle/>
          <a:p>
            <a:pPr algn="ctr">
              <a:lnSpc>
                <a:spcPts val="11158"/>
              </a:lnSpc>
            </a:pPr>
            <a:r>
              <a:rPr lang="en-US" sz="11998">
                <a:solidFill>
                  <a:srgbClr val="272727"/>
                </a:solidFill>
                <a:latin typeface="Questrial"/>
                <a:ea typeface="Questrial"/>
                <a:cs typeface="Questrial"/>
                <a:sym typeface="Questrial"/>
              </a:rPr>
              <a:t>CONCLUSIONS</a:t>
            </a:r>
          </a:p>
        </p:txBody>
      </p:sp>
      <p:sp>
        <p:nvSpPr>
          <p:cNvPr name="TextBox 6" id="6"/>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7" id="7"/>
          <p:cNvGrpSpPr/>
          <p:nvPr/>
        </p:nvGrpSpPr>
        <p:grpSpPr>
          <a:xfrm rot="0">
            <a:off x="13360918" y="1028700"/>
            <a:ext cx="1071507" cy="313857"/>
            <a:chOff x="0" y="0"/>
            <a:chExt cx="282208" cy="82662"/>
          </a:xfrm>
        </p:grpSpPr>
        <p:sp>
          <p:nvSpPr>
            <p:cNvPr name="Freeform 8" id="8"/>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9" id="9"/>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1" id="11"/>
          <p:cNvGrpSpPr/>
          <p:nvPr/>
        </p:nvGrpSpPr>
        <p:grpSpPr>
          <a:xfrm rot="0">
            <a:off x="14645036" y="1028700"/>
            <a:ext cx="1071507" cy="313857"/>
            <a:chOff x="0" y="0"/>
            <a:chExt cx="282208" cy="82662"/>
          </a:xfrm>
        </p:grpSpPr>
        <p:sp>
          <p:nvSpPr>
            <p:cNvPr name="Freeform 12" id="12"/>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5" id="15"/>
          <p:cNvGrpSpPr/>
          <p:nvPr/>
        </p:nvGrpSpPr>
        <p:grpSpPr>
          <a:xfrm rot="0">
            <a:off x="15929155" y="1028700"/>
            <a:ext cx="1330145" cy="313857"/>
            <a:chOff x="0" y="0"/>
            <a:chExt cx="350326" cy="82662"/>
          </a:xfrm>
        </p:grpSpPr>
        <p:sp>
          <p:nvSpPr>
            <p:cNvPr name="Freeform 16" id="16"/>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7" id="17"/>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6" id="6"/>
          <p:cNvGrpSpPr/>
          <p:nvPr/>
        </p:nvGrpSpPr>
        <p:grpSpPr>
          <a:xfrm rot="0">
            <a:off x="13360918" y="1028700"/>
            <a:ext cx="1071507" cy="313857"/>
            <a:chOff x="0" y="0"/>
            <a:chExt cx="282208" cy="82662"/>
          </a:xfrm>
        </p:grpSpPr>
        <p:sp>
          <p:nvSpPr>
            <p:cNvPr name="Freeform 7" id="7"/>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8" id="8"/>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0" id="10"/>
          <p:cNvGrpSpPr/>
          <p:nvPr/>
        </p:nvGrpSpPr>
        <p:grpSpPr>
          <a:xfrm rot="0">
            <a:off x="14645036" y="1028700"/>
            <a:ext cx="1071507" cy="313857"/>
            <a:chOff x="0" y="0"/>
            <a:chExt cx="282208" cy="82662"/>
          </a:xfrm>
        </p:grpSpPr>
        <p:sp>
          <p:nvSpPr>
            <p:cNvPr name="Freeform 11" id="11"/>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2" id="12"/>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4" id="14"/>
          <p:cNvGrpSpPr/>
          <p:nvPr/>
        </p:nvGrpSpPr>
        <p:grpSpPr>
          <a:xfrm rot="0">
            <a:off x="15929155" y="1028700"/>
            <a:ext cx="1330145" cy="313857"/>
            <a:chOff x="0" y="0"/>
            <a:chExt cx="350326" cy="82662"/>
          </a:xfrm>
        </p:grpSpPr>
        <p:sp>
          <p:nvSpPr>
            <p:cNvPr name="Freeform 15" id="15"/>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6" id="16"/>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
        <p:nvSpPr>
          <p:cNvPr name="TextBox 18" id="18"/>
          <p:cNvSpPr txBox="true"/>
          <p:nvPr/>
        </p:nvSpPr>
        <p:spPr>
          <a:xfrm rot="0">
            <a:off x="326618" y="1930207"/>
            <a:ext cx="17961382" cy="8565516"/>
          </a:xfrm>
          <a:prstGeom prst="rect">
            <a:avLst/>
          </a:prstGeom>
        </p:spPr>
        <p:txBody>
          <a:bodyPr anchor="t" rtlCol="false" tIns="0" lIns="0" bIns="0" rIns="0">
            <a:spAutoFit/>
          </a:bodyPr>
          <a:lstStyle/>
          <a:p>
            <a:pPr algn="l" marL="949952" indent="-474976" lvl="1">
              <a:lnSpc>
                <a:spcPts val="6159"/>
              </a:lnSpc>
              <a:buFont typeface="Arial"/>
              <a:buChar char="•"/>
            </a:pPr>
            <a:r>
              <a:rPr lang="en-US" sz="4399">
                <a:solidFill>
                  <a:srgbClr val="272727"/>
                </a:solidFill>
                <a:latin typeface="Manjari"/>
                <a:ea typeface="Manjari"/>
                <a:cs typeface="Manjari"/>
                <a:sym typeface="Manjari"/>
              </a:rPr>
              <a:t>Study Overview</a:t>
            </a:r>
          </a:p>
          <a:p>
            <a:pPr algn="l" marL="1899905" indent="-633302" lvl="2">
              <a:lnSpc>
                <a:spcPts val="6159"/>
              </a:lnSpc>
              <a:buFont typeface="Arial"/>
              <a:buChar char="⚬"/>
            </a:pPr>
            <a:r>
              <a:rPr lang="en-US" sz="4399">
                <a:solidFill>
                  <a:srgbClr val="272727"/>
                </a:solidFill>
                <a:latin typeface="Manjari"/>
                <a:ea typeface="Manjari"/>
                <a:cs typeface="Manjari"/>
                <a:sym typeface="Manjari"/>
              </a:rPr>
              <a:t>30 days of production &amp; sales data</a:t>
            </a:r>
          </a:p>
          <a:p>
            <a:pPr algn="l" marL="1899905" indent="-633302" lvl="2">
              <a:lnSpc>
                <a:spcPts val="6159"/>
              </a:lnSpc>
              <a:buFont typeface="Arial"/>
              <a:buChar char="⚬"/>
            </a:pPr>
            <a:r>
              <a:rPr lang="en-US" sz="4399">
                <a:solidFill>
                  <a:srgbClr val="272727"/>
                </a:solidFill>
                <a:latin typeface="Manjari"/>
                <a:ea typeface="Manjari"/>
                <a:cs typeface="Manjari"/>
                <a:sym typeface="Manjari"/>
              </a:rPr>
              <a:t>Evaluated profitability and waste patterns in a repeating menu system</a:t>
            </a:r>
          </a:p>
          <a:p>
            <a:pPr algn="l" marL="949952" indent="-474976" lvl="1">
              <a:lnSpc>
                <a:spcPts val="6159"/>
              </a:lnSpc>
              <a:buFont typeface="Arial"/>
              <a:buChar char="•"/>
            </a:pPr>
            <a:r>
              <a:rPr lang="en-US" sz="4399">
                <a:solidFill>
                  <a:srgbClr val="272727"/>
                </a:solidFill>
                <a:latin typeface="Manjari"/>
                <a:ea typeface="Manjari"/>
                <a:cs typeface="Manjari"/>
                <a:sym typeface="Manjari"/>
              </a:rPr>
              <a:t>Key Findings</a:t>
            </a:r>
          </a:p>
          <a:p>
            <a:pPr algn="l" marL="1899905" indent="-633302" lvl="2">
              <a:lnSpc>
                <a:spcPts val="6159"/>
              </a:lnSpc>
              <a:buFont typeface="Arial"/>
              <a:buChar char="⚬"/>
            </a:pPr>
            <a:r>
              <a:rPr lang="en-US" sz="4399">
                <a:solidFill>
                  <a:srgbClr val="272727"/>
                </a:solidFill>
                <a:latin typeface="Manjari"/>
                <a:ea typeface="Manjari"/>
                <a:cs typeface="Manjari"/>
                <a:sym typeface="Manjari"/>
              </a:rPr>
              <a:t>Fish &amp; Vegetable dishes → Highest profits (revenue drivers)</a:t>
            </a:r>
          </a:p>
          <a:p>
            <a:pPr algn="l" marL="1899905" indent="-633302" lvl="2">
              <a:lnSpc>
                <a:spcPts val="6159"/>
              </a:lnSpc>
              <a:buFont typeface="Arial"/>
              <a:buChar char="⚬"/>
            </a:pPr>
            <a:r>
              <a:rPr lang="en-US" sz="4399">
                <a:solidFill>
                  <a:srgbClr val="272727"/>
                </a:solidFill>
                <a:latin typeface="Manjari"/>
                <a:ea typeface="Manjari"/>
                <a:cs typeface="Manjari"/>
                <a:sym typeface="Manjari"/>
              </a:rPr>
              <a:t>Soup dishes → 0% waste, operational stabilizers</a:t>
            </a:r>
          </a:p>
          <a:p>
            <a:pPr algn="l" marL="1899905" indent="-633302" lvl="2">
              <a:lnSpc>
                <a:spcPts val="6159"/>
              </a:lnSpc>
              <a:buFont typeface="Arial"/>
              <a:buChar char="⚬"/>
            </a:pPr>
            <a:r>
              <a:rPr lang="en-US" sz="4399">
                <a:solidFill>
                  <a:srgbClr val="272727"/>
                </a:solidFill>
                <a:latin typeface="Manjari"/>
                <a:ea typeface="Manjari"/>
                <a:cs typeface="Manjari"/>
                <a:sym typeface="Manjari"/>
              </a:rPr>
              <a:t>Chicken dishes → Highest waste (~15%), lowest profitability</a:t>
            </a:r>
          </a:p>
          <a:p>
            <a:pPr algn="l" marL="949952" indent="-474976" lvl="1">
              <a:lnSpc>
                <a:spcPts val="6159"/>
              </a:lnSpc>
              <a:buFont typeface="Arial"/>
              <a:buChar char="•"/>
            </a:pPr>
            <a:r>
              <a:rPr lang="en-US" sz="4399">
                <a:solidFill>
                  <a:srgbClr val="272727"/>
                </a:solidFill>
                <a:latin typeface="Manjari"/>
                <a:ea typeface="Manjari"/>
                <a:cs typeface="Manjari"/>
                <a:sym typeface="Manjari"/>
              </a:rPr>
              <a:t>Statistical Evidence</a:t>
            </a:r>
          </a:p>
          <a:p>
            <a:pPr algn="l" marL="1899905" indent="-633302" lvl="2">
              <a:lnSpc>
                <a:spcPts val="6159"/>
              </a:lnSpc>
              <a:buFont typeface="Arial"/>
              <a:buChar char="⚬"/>
            </a:pPr>
            <a:r>
              <a:rPr lang="en-US" sz="4399">
                <a:solidFill>
                  <a:srgbClr val="272727"/>
                </a:solidFill>
                <a:latin typeface="Manjari"/>
                <a:ea typeface="Manjari"/>
                <a:cs typeface="Manjari"/>
                <a:sym typeface="Manjari"/>
              </a:rPr>
              <a:t>ANOVA: Significant profit differences (F = 57.27, p &lt; 0.001)</a:t>
            </a:r>
          </a:p>
          <a:p>
            <a:pPr algn="l" marL="1899905" indent="-633302" lvl="2">
              <a:lnSpc>
                <a:spcPts val="6159"/>
              </a:lnSpc>
              <a:buFont typeface="Arial"/>
              <a:buChar char="⚬"/>
            </a:pPr>
            <a:r>
              <a:rPr lang="en-US" sz="4399">
                <a:solidFill>
                  <a:srgbClr val="272727"/>
                </a:solidFill>
                <a:latin typeface="Manjari"/>
                <a:ea typeface="Manjari"/>
                <a:cs typeface="Manjari"/>
                <a:sym typeface="Manjari"/>
              </a:rPr>
              <a:t>Pearson: Profit negatively related to waste (r = −0.337)</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836362" cy="313857"/>
            <a:chOff x="0" y="0"/>
            <a:chExt cx="483651" cy="82662"/>
          </a:xfrm>
        </p:grpSpPr>
        <p:sp>
          <p:nvSpPr>
            <p:cNvPr name="Freeform 3" id="3"/>
            <p:cNvSpPr/>
            <p:nvPr/>
          </p:nvSpPr>
          <p:spPr>
            <a:xfrm flipH="false" flipV="false" rot="0">
              <a:off x="0" y="0"/>
              <a:ext cx="483651" cy="82662"/>
            </a:xfrm>
            <a:custGeom>
              <a:avLst/>
              <a:gdLst/>
              <a:ahLst/>
              <a:cxnLst/>
              <a:rect r="r" b="b" t="t" l="l"/>
              <a:pathLst>
                <a:path h="82662" w="483651">
                  <a:moveTo>
                    <a:pt x="41331" y="0"/>
                  </a:moveTo>
                  <a:lnTo>
                    <a:pt x="442320" y="0"/>
                  </a:lnTo>
                  <a:cubicBezTo>
                    <a:pt x="465146" y="0"/>
                    <a:pt x="483651" y="18504"/>
                    <a:pt x="483651" y="41331"/>
                  </a:cubicBezTo>
                  <a:lnTo>
                    <a:pt x="483651" y="41331"/>
                  </a:lnTo>
                  <a:cubicBezTo>
                    <a:pt x="483651" y="64157"/>
                    <a:pt x="465146" y="82662"/>
                    <a:pt x="442320"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4" id="4"/>
            <p:cNvSpPr txBox="true"/>
            <p:nvPr/>
          </p:nvSpPr>
          <p:spPr>
            <a:xfrm>
              <a:off x="0" y="-57150"/>
              <a:ext cx="483651" cy="13981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4537729"/>
            <a:ext cx="16230600" cy="1516341"/>
          </a:xfrm>
          <a:prstGeom prst="rect">
            <a:avLst/>
          </a:prstGeom>
        </p:spPr>
        <p:txBody>
          <a:bodyPr anchor="t" rtlCol="false" tIns="0" lIns="0" bIns="0" rIns="0">
            <a:spAutoFit/>
          </a:bodyPr>
          <a:lstStyle/>
          <a:p>
            <a:pPr algn="ctr">
              <a:lnSpc>
                <a:spcPts val="11158"/>
              </a:lnSpc>
            </a:pPr>
            <a:r>
              <a:rPr lang="en-US" sz="11998">
                <a:solidFill>
                  <a:srgbClr val="272727"/>
                </a:solidFill>
                <a:latin typeface="Questrial"/>
                <a:ea typeface="Questrial"/>
                <a:cs typeface="Questrial"/>
                <a:sym typeface="Questrial"/>
              </a:rPr>
              <a:t>THANK YOU</a:t>
            </a:r>
          </a:p>
        </p:txBody>
      </p:sp>
      <p:sp>
        <p:nvSpPr>
          <p:cNvPr name="TextBox 6" id="6"/>
          <p:cNvSpPr txBox="true"/>
          <p:nvPr/>
        </p:nvSpPr>
        <p:spPr>
          <a:xfrm rot="0">
            <a:off x="1062601" y="1059347"/>
            <a:ext cx="1768560"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Studio Shodwe</a:t>
            </a:r>
          </a:p>
        </p:txBody>
      </p:sp>
      <p:grpSp>
        <p:nvGrpSpPr>
          <p:cNvPr name="Group 7" id="7"/>
          <p:cNvGrpSpPr/>
          <p:nvPr/>
        </p:nvGrpSpPr>
        <p:grpSpPr>
          <a:xfrm rot="0">
            <a:off x="13360918" y="1028700"/>
            <a:ext cx="1071507" cy="313857"/>
            <a:chOff x="0" y="0"/>
            <a:chExt cx="282208" cy="82662"/>
          </a:xfrm>
        </p:grpSpPr>
        <p:sp>
          <p:nvSpPr>
            <p:cNvPr name="Freeform 8" id="8"/>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9" id="9"/>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474261"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Home</a:t>
            </a:r>
          </a:p>
        </p:txBody>
      </p:sp>
      <p:grpSp>
        <p:nvGrpSpPr>
          <p:cNvPr name="Group 11" id="11"/>
          <p:cNvGrpSpPr/>
          <p:nvPr/>
        </p:nvGrpSpPr>
        <p:grpSpPr>
          <a:xfrm rot="0">
            <a:off x="14645036" y="1028700"/>
            <a:ext cx="1071507" cy="313857"/>
            <a:chOff x="0" y="0"/>
            <a:chExt cx="282208" cy="82662"/>
          </a:xfrm>
        </p:grpSpPr>
        <p:sp>
          <p:nvSpPr>
            <p:cNvPr name="Freeform 12" id="12"/>
            <p:cNvSpPr/>
            <p:nvPr/>
          </p:nvSpPr>
          <p:spPr>
            <a:xfrm flipH="false" flipV="false" rot="0">
              <a:off x="0" y="0"/>
              <a:ext cx="282208" cy="82662"/>
            </a:xfrm>
            <a:custGeom>
              <a:avLst/>
              <a:gdLst/>
              <a:ahLst/>
              <a:cxnLst/>
              <a:rect r="r" b="b" t="t" l="l"/>
              <a:pathLst>
                <a:path h="82662" w="282208">
                  <a:moveTo>
                    <a:pt x="41331" y="0"/>
                  </a:moveTo>
                  <a:lnTo>
                    <a:pt x="240877" y="0"/>
                  </a:lnTo>
                  <a:cubicBezTo>
                    <a:pt x="263703" y="0"/>
                    <a:pt x="282208" y="18504"/>
                    <a:pt x="282208" y="41331"/>
                  </a:cubicBezTo>
                  <a:lnTo>
                    <a:pt x="282208" y="41331"/>
                  </a:lnTo>
                  <a:cubicBezTo>
                    <a:pt x="282208" y="64157"/>
                    <a:pt x="263703" y="82662"/>
                    <a:pt x="240877"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3" id="13"/>
            <p:cNvSpPr txBox="true"/>
            <p:nvPr/>
          </p:nvSpPr>
          <p:spPr>
            <a:xfrm>
              <a:off x="0" y="-57150"/>
              <a:ext cx="282208" cy="139812"/>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58379" y="1059347"/>
            <a:ext cx="844821"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Profile</a:t>
            </a:r>
          </a:p>
        </p:txBody>
      </p:sp>
      <p:grpSp>
        <p:nvGrpSpPr>
          <p:cNvPr name="Group 15" id="15"/>
          <p:cNvGrpSpPr/>
          <p:nvPr/>
        </p:nvGrpSpPr>
        <p:grpSpPr>
          <a:xfrm rot="0">
            <a:off x="15929155" y="1028700"/>
            <a:ext cx="1330145" cy="313857"/>
            <a:chOff x="0" y="0"/>
            <a:chExt cx="350326" cy="82662"/>
          </a:xfrm>
        </p:grpSpPr>
        <p:sp>
          <p:nvSpPr>
            <p:cNvPr name="Freeform 16" id="16"/>
            <p:cNvSpPr/>
            <p:nvPr/>
          </p:nvSpPr>
          <p:spPr>
            <a:xfrm flipH="false" flipV="false" rot="0">
              <a:off x="0" y="0"/>
              <a:ext cx="350326" cy="82662"/>
            </a:xfrm>
            <a:custGeom>
              <a:avLst/>
              <a:gdLst/>
              <a:ahLst/>
              <a:cxnLst/>
              <a:rect r="r" b="b" t="t" l="l"/>
              <a:pathLst>
                <a:path h="82662" w="350326">
                  <a:moveTo>
                    <a:pt x="41331" y="0"/>
                  </a:moveTo>
                  <a:lnTo>
                    <a:pt x="308995" y="0"/>
                  </a:lnTo>
                  <a:cubicBezTo>
                    <a:pt x="331822" y="0"/>
                    <a:pt x="350326" y="18504"/>
                    <a:pt x="350326" y="41331"/>
                  </a:cubicBezTo>
                  <a:lnTo>
                    <a:pt x="350326" y="41331"/>
                  </a:lnTo>
                  <a:cubicBezTo>
                    <a:pt x="350326" y="64157"/>
                    <a:pt x="331822" y="82662"/>
                    <a:pt x="308995" y="82662"/>
                  </a:cubicBezTo>
                  <a:lnTo>
                    <a:pt x="41331" y="82662"/>
                  </a:lnTo>
                  <a:cubicBezTo>
                    <a:pt x="18504" y="82662"/>
                    <a:pt x="0" y="64157"/>
                    <a:pt x="0" y="41331"/>
                  </a:cubicBezTo>
                  <a:lnTo>
                    <a:pt x="0" y="41331"/>
                  </a:lnTo>
                  <a:cubicBezTo>
                    <a:pt x="0" y="18504"/>
                    <a:pt x="18504" y="0"/>
                    <a:pt x="41331" y="0"/>
                  </a:cubicBezTo>
                  <a:close/>
                </a:path>
              </a:pathLst>
            </a:custGeom>
            <a:ln w="9525" cap="rnd">
              <a:solidFill>
                <a:srgbClr val="272727"/>
              </a:solidFill>
              <a:prstDash val="solid"/>
              <a:round/>
            </a:ln>
          </p:spPr>
        </p:sp>
        <p:sp>
          <p:nvSpPr>
            <p:cNvPr name="TextBox 17" id="17"/>
            <p:cNvSpPr txBox="true"/>
            <p:nvPr/>
          </p:nvSpPr>
          <p:spPr>
            <a:xfrm>
              <a:off x="0" y="-57150"/>
              <a:ext cx="350326" cy="13981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932631" y="1059347"/>
            <a:ext cx="1326669" cy="283210"/>
          </a:xfrm>
          <a:prstGeom prst="rect">
            <a:avLst/>
          </a:prstGeom>
        </p:spPr>
        <p:txBody>
          <a:bodyPr anchor="t" rtlCol="false" tIns="0" lIns="0" bIns="0" rIns="0">
            <a:spAutoFit/>
          </a:bodyPr>
          <a:lstStyle/>
          <a:p>
            <a:pPr algn="ctr">
              <a:lnSpc>
                <a:spcPts val="2239"/>
              </a:lnSpc>
            </a:pPr>
            <a:r>
              <a:rPr lang="en-US" sz="1599">
                <a:solidFill>
                  <a:srgbClr val="272727"/>
                </a:solidFill>
                <a:latin typeface="Manjari"/>
                <a:ea typeface="Manjari"/>
                <a:cs typeface="Manjari"/>
                <a:sym typeface="Manjari"/>
              </a:rPr>
              <a:t>Our Contact</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DAHBxfvOoVQ</dc:identifier>
  <dcterms:modified xsi:type="dcterms:W3CDTF">2011-08-01T06:04:30Z</dcterms:modified>
  <cp:revision>1</cp:revision>
  <dc:title>Data-Driven Analysis of Profitability and Food Waste in a Rotating Menu System: Evidence from a Small-Scale Filipino Eatery</dc:title>
</cp:coreProperties>
</file>